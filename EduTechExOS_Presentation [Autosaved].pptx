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58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8626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4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821873"/>
            <a:ext cx="5029200" cy="5029200"/>
          </a:xfrm>
          <a:prstGeom prst="ellipse">
            <a:avLst/>
          </a:prstGeom>
          <a:solidFill>
            <a:srgbClr val="4F46E5">
              <a:alpha val="18000"/>
            </a:srgbClr>
          </a:solidFill>
          <a:ln w="12700">
            <a:solidFill>
              <a:srgbClr val="4F46E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47472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2743200"/>
            <a:ext cx="2743200" cy="27432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822960"/>
            <a:ext cx="2651760" cy="365760"/>
          </a:xfrm>
          <a:prstGeom prst="roundRect">
            <a:avLst>
              <a:gd name="adj" fmla="val 25000"/>
            </a:avLst>
          </a:prstGeom>
          <a:solidFill>
            <a:srgbClr val="4F46E5">
              <a:alpha val="70000"/>
            </a:srgbClr>
          </a:solidFill>
          <a:ln w="12700">
            <a:solidFill>
              <a:srgbClr val="4F46E5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3210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 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EduTechExOS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438912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060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Private Team Workspace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572768" cy="347472"/>
          </a:xfrm>
          <a:prstGeom prst="roundRect">
            <a:avLst>
              <a:gd name="adj" fmla="val 23684"/>
            </a:avLst>
          </a:prstGeom>
          <a:solidFill>
            <a:srgbClr val="4F46E5">
              <a:alpha val="80000"/>
            </a:srgbClr>
          </a:solidFill>
          <a:ln w="12700">
            <a:solidFill>
              <a:srgbClr val="4F46E5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55848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67712" y="3337560"/>
            <a:ext cx="1572768" cy="347472"/>
          </a:xfrm>
          <a:prstGeom prst="roundRect">
            <a:avLst>
              <a:gd name="adj" fmla="val 23684"/>
            </a:avLst>
          </a:prstGeom>
          <a:solidFill>
            <a:srgbClr val="4F46E5">
              <a:alpha val="80000"/>
            </a:srgbClr>
          </a:solidFill>
          <a:ln w="12700">
            <a:solidFill>
              <a:srgbClr val="4F46E5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3355848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86784" y="3337560"/>
            <a:ext cx="1572768" cy="347472"/>
          </a:xfrm>
          <a:prstGeom prst="roundRect">
            <a:avLst>
              <a:gd name="adj" fmla="val 23684"/>
            </a:avLst>
          </a:prstGeom>
          <a:solidFill>
            <a:srgbClr val="4F46E5">
              <a:alpha val="80000"/>
            </a:srgbClr>
          </a:solidFill>
          <a:ln w="12700">
            <a:solidFill>
              <a:srgbClr val="4F46E5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86784" y="3355848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05856" y="3337560"/>
            <a:ext cx="1572768" cy="347472"/>
          </a:xfrm>
          <a:prstGeom prst="roundRect">
            <a:avLst>
              <a:gd name="adj" fmla="val 23684"/>
            </a:avLst>
          </a:prstGeom>
          <a:solidFill>
            <a:srgbClr val="4F46E5">
              <a:alpha val="80000"/>
            </a:srgbClr>
          </a:solidFill>
          <a:ln w="12700">
            <a:solidFill>
              <a:srgbClr val="4F46E5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05856" y="3355848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24928" y="3337560"/>
            <a:ext cx="1572768" cy="347472"/>
          </a:xfrm>
          <a:prstGeom prst="roundRect">
            <a:avLst>
              <a:gd name="adj" fmla="val 23684"/>
            </a:avLst>
          </a:prstGeom>
          <a:solidFill>
            <a:srgbClr val="4F46E5">
              <a:alpha val="80000"/>
            </a:srgbClr>
          </a:solidFill>
          <a:ln w="12700">
            <a:solidFill>
              <a:srgbClr val="4F46E5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4928" y="3355848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4622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Next.js · Express · MongoDB · Socket.IO · Deployed on Vercel &amp; Render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90688" y="224028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2331720"/>
            <a:ext cx="182880" cy="1828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7790688" y="2752344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2843784"/>
            <a:ext cx="182880" cy="18288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790688" y="3264408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3355848"/>
            <a:ext cx="182880" cy="18288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7790688" y="3776472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8" y="3867912"/>
            <a:ext cx="182880" cy="18288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790688" y="4288536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2128" y="437997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EduTechExOS?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invite-only team workspace built for modern organisations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EduTechExOS is a complete digital workspace where teams communicate in real-time, manage tasks, track attendance, handle leave — and get AI assistance, all in one secure platform.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2121408"/>
            <a:ext cx="26517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21408"/>
            <a:ext cx="26517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572768"/>
            <a:ext cx="658368" cy="6583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73736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23042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2920" y="2816352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27706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team channels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02920" y="3273552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" y="32278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direct messages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3730752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" y="36850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indicators &amp; reactions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4187952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" y="41422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video messages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172968" y="2121408"/>
            <a:ext cx="26517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172968" y="2121408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78808" y="1572768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737360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172968" y="23042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Collaborate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3355848" y="281635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557016" y="27706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task boards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3355848" y="327355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557016" y="32278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wiki knowledge base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3355848" y="373075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557016" y="36850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notepad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3355848" y="418795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557016" y="41422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screen sharing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025896" y="2121408"/>
            <a:ext cx="26517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025896" y="2121408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031736" y="1572768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1737360"/>
            <a:ext cx="329184" cy="329184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025896" y="23042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</a:t>
            </a:r>
            <a:endParaRPr lang="en-US" sz="1600" dirty="0"/>
          </a:p>
        </p:txBody>
      </p:sp>
      <p:sp>
        <p:nvSpPr>
          <p:cNvPr id="38" name="Shape 33"/>
          <p:cNvSpPr/>
          <p:nvPr/>
        </p:nvSpPr>
        <p:spPr>
          <a:xfrm>
            <a:off x="6208776" y="281635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409944" y="27706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applications &amp; approval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6208776" y="327355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09944" y="32278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6208776" y="373075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409944" y="36850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panel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6208776" y="418795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409944" y="41422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&amp;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—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user's browser to the database — every request, every event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0604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60604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481328"/>
            <a:ext cx="566928" cy="56692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623060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Browser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18470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on Vercel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0352" y="2331720"/>
            <a:ext cx="256032" cy="256032"/>
          </a:xfrm>
          <a:prstGeom prst="rect">
            <a:avLst/>
          </a:prstGeom>
          <a:solidFill>
            <a:srgbClr val="4F46E5">
              <a:alpha val="60000"/>
            </a:srgbClr>
          </a:solidFill>
          <a:ln w="12700">
            <a:solidFill>
              <a:srgbClr val="4F46E5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23042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dashboard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0352" y="2971800"/>
            <a:ext cx="256032" cy="256032"/>
          </a:xfrm>
          <a:prstGeom prst="rect">
            <a:avLst/>
          </a:prstGeom>
          <a:solidFill>
            <a:srgbClr val="4F46E5">
              <a:alpha val="60000"/>
            </a:srgbClr>
          </a:solidFill>
          <a:ln w="12700">
            <a:solidFill>
              <a:srgbClr val="4F46E5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29443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state store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0352" y="3611880"/>
            <a:ext cx="256032" cy="256032"/>
          </a:xfrm>
          <a:prstGeom prst="rect">
            <a:avLst/>
          </a:prstGeom>
          <a:solidFill>
            <a:srgbClr val="4F46E5">
              <a:alpha val="60000"/>
            </a:srgbClr>
          </a:solidFill>
          <a:ln w="12700">
            <a:solidFill>
              <a:srgbClr val="4F46E5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35844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0352" y="4251960"/>
            <a:ext cx="256032" cy="256032"/>
          </a:xfrm>
          <a:prstGeom prst="rect">
            <a:avLst/>
          </a:prstGeom>
          <a:solidFill>
            <a:srgbClr val="4F46E5">
              <a:alpha val="60000"/>
            </a:srgbClr>
          </a:solidFill>
          <a:ln w="12700">
            <a:solidFill>
              <a:srgbClr val="4F46E5">
                <a:alpha val="6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" y="42245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from GitHub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971800" y="3017520"/>
            <a:ext cx="731520" cy="45720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71800" y="28163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WS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37560" y="1417320"/>
            <a:ext cx="260604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337560" y="1417320"/>
            <a:ext cx="26060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47288" y="1481328"/>
            <a:ext cx="566928" cy="56692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20" y="1623060"/>
            <a:ext cx="283464" cy="28346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11480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114800" y="18470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on Render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502152" y="2331720"/>
            <a:ext cx="256032" cy="256032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849624" y="23042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REST API routes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502152" y="2971800"/>
            <a:ext cx="256032" cy="256032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849624" y="29443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server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3502152" y="3611880"/>
            <a:ext cx="256032" cy="256032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849624" y="35844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3502152" y="4251960"/>
            <a:ext cx="256032" cy="256032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849624" y="42245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CORS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943600" y="3017520"/>
            <a:ext cx="731520" cy="45720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943600" y="28163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6309360" y="1417320"/>
            <a:ext cx="260604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6309360" y="1417320"/>
            <a:ext cx="26060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419088" y="1481328"/>
            <a:ext cx="566928" cy="56692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1623060"/>
            <a:ext cx="283464" cy="283464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708660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Services</a:t>
            </a:r>
            <a:endParaRPr lang="en-US" sz="1300" dirty="0"/>
          </a:p>
        </p:txBody>
      </p:sp>
      <p:sp>
        <p:nvSpPr>
          <p:cNvPr id="42" name="Text 37"/>
          <p:cNvSpPr/>
          <p:nvPr/>
        </p:nvSpPr>
        <p:spPr>
          <a:xfrm>
            <a:off x="7086600" y="18470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+ Cloud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6473952" y="2331720"/>
            <a:ext cx="256032" cy="256032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821424" y="23042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(DB)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6473952" y="2971800"/>
            <a:ext cx="256032" cy="256032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821424" y="29443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(files)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6473952" y="3611880"/>
            <a:ext cx="256032" cy="256032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821424" y="35844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(email)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6473952" y="4251960"/>
            <a:ext cx="256032" cy="256032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821424" y="42245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(assistant)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365760" y="4663440"/>
            <a:ext cx="8412480" cy="329184"/>
          </a:xfrm>
          <a:prstGeom prst="rect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>
                <a:alpha val="20000"/>
              </a:srgbClr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events (chat, typing, notifications) travel via Socket.IO  ·  All REST calls require JWT  ·  Messages encrypted AES-256 at rest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Access — User Journey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from sign-up request to logging into the workspace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1847088"/>
            <a:ext cx="502920" cy="36576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71600"/>
            <a:ext cx="1938528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1508760"/>
            <a:ext cx="713232" cy="7132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50876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50976" y="2395728"/>
            <a:ext cx="566928" cy="5669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2537460"/>
            <a:ext cx="283464" cy="2834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47472" y="3108960"/>
            <a:ext cx="1801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 Request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84048" y="356616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 in name, email &amp; reason on the sign-up page. System instantly blocks previously removed members.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79392" y="1847088"/>
            <a:ext cx="502920" cy="36576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50592" y="1371600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450592" y="1371600"/>
            <a:ext cx="193852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63240" y="1508760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063240" y="150876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3127248" y="2395728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980" y="2537460"/>
            <a:ext cx="283464" cy="28346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523744" y="3108960"/>
            <a:ext cx="1801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Reviews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2560320" y="356616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 the request in the Control Panel. One-click Approve or Reject with an optional message.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455664" y="1847088"/>
            <a:ext cx="502920" cy="36576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626864" y="1371600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626864" y="1371600"/>
            <a:ext cx="193852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239512" y="1508760"/>
            <a:ext cx="713232" cy="7132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239512" y="150876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5303520" y="2395728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5252" y="2537460"/>
            <a:ext cx="283464" cy="28346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700016" y="3108960"/>
            <a:ext cx="1801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Decision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4736592" y="356616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sends a branded decision email. Approved users get a secure link to set their password.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803136" y="1371600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803136" y="1371600"/>
            <a:ext cx="193852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15784" y="1508760"/>
            <a:ext cx="713232" cy="7132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415784" y="150876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37" name="Shape 32"/>
          <p:cNvSpPr/>
          <p:nvPr/>
        </p:nvSpPr>
        <p:spPr>
          <a:xfrm>
            <a:off x="7479792" y="2395728"/>
            <a:ext cx="566928" cy="5669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1524" y="2537460"/>
            <a:ext cx="283464" cy="28346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876288" y="3108960"/>
            <a:ext cx="1801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&amp; Join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6912864" y="356616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sets password, logs in with a JWT token and appears live on the team member list.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workspace home — everything in one screen, no tab-switching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16002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53312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E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EduTechExOS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764792"/>
            <a:ext cx="1600200" cy="320040"/>
          </a:xfrm>
          <a:prstGeom prst="rect">
            <a:avLst/>
          </a:prstGeom>
          <a:solidFill>
            <a:srgbClr val="4F46E5">
              <a:alpha val="60000"/>
            </a:srgbClr>
          </a:solidFill>
          <a:ln w="12700">
            <a:solidFill>
              <a:srgbClr val="4F46E5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830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general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1305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skillnaav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47802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projects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82549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DMs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1729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5204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8679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21538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56285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9103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93392" y="1298448"/>
            <a:ext cx="411480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93392" y="1298448"/>
            <a:ext cx="4114800" cy="32918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84832" y="13167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 general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03120" y="1755648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05456" y="174650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931920" y="174650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05456" y="195681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 team! Daily standup in 10 mins 🎯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103120" y="2350008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2350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05456" y="234086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 K.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31920" y="234086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05456" y="255117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it! Finishing the kanban board first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103120" y="294436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05456" y="29352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931920" y="29352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05456" y="314553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from mobile — be there!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993392" y="3840480"/>
            <a:ext cx="4114800" cy="219456"/>
          </a:xfrm>
          <a:prstGeom prst="rect">
            <a:avLst/>
          </a:prstGeom>
          <a:solidFill>
            <a:srgbClr val="F0F9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38496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is typing…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993392" y="4078224"/>
            <a:ext cx="41148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03120" y="410565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#general   📎  🎙️  📹  😊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1298448"/>
            <a:ext cx="26060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63640" y="1298448"/>
            <a:ext cx="260604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6792" y="13350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36792" y="1682496"/>
            <a:ext cx="24505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unread · 1 leave decision pending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63640" y="2642616"/>
            <a:ext cx="26060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63640" y="2642616"/>
            <a:ext cx="26060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6792" y="267919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Activity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36792" y="3026664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 18 of 22 days this month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63640" y="3950208"/>
            <a:ext cx="2606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63640" y="3950208"/>
            <a:ext cx="2606040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36792" y="398678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Search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336792" y="433425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all messages &amp; files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Team Chat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Channels, reactions, threads, polls — all synced instantly via Socket.IO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64008" cy="11155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60020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17602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25296" y="1463040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Channels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225296" y="1828800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Workspace-wide channels like #general. Every member sees messages in real-time as they are sent.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81728" y="137160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81728" y="1371600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46320" y="160020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17602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32704" y="1463040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Delivery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632704" y="1828800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travel via Socket.IO websockets — appears for all users in under 100ms. No refresh needed.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74320" y="262432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74320" y="2624328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38912" y="2852928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" y="3012948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25296" y="2715768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Reactions &amp; Polls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1225296" y="3081528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with any emoji. Create instant polls directly inside chat for quick team decisions.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81728" y="262432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81728" y="2624328"/>
            <a:ext cx="64008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46320" y="2852928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6340" y="3012948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32704" y="2715768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 &amp; Bookmark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5632704" y="3081528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key messages to the channel. Bookmark personal favourites to revisit anytime.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274320" y="387705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274320" y="3877056"/>
            <a:ext cx="64008" cy="11155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38912" y="4105656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" y="4265676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225296" y="3968496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 Previews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1225296" y="4334256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unfurl automatically to show title, description and thumbnail — no copy-paste needed.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681728" y="387705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681728" y="3877056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4846320" y="4105656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6340" y="4265676"/>
            <a:ext cx="320040" cy="32004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632704" y="3968496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Infinite History</a:t>
            </a:r>
            <a:endParaRPr lang="en-US" sz="1350" dirty="0"/>
          </a:p>
        </p:txBody>
      </p:sp>
      <p:sp>
        <p:nvSpPr>
          <p:cNvPr id="41" name="Text 33"/>
          <p:cNvSpPr/>
          <p:nvPr/>
        </p:nvSpPr>
        <p:spPr>
          <a:xfrm>
            <a:off x="5632704" y="4334256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up to load older messages paginated from MongoDB. Never lose a conversation.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Messages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encrypted 1-on-1 conversations between workspace members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41148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411480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081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DMs 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347472" cy="3474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901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member name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21579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sidebar or member list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" y="2249424"/>
            <a:ext cx="0" cy="402336"/>
          </a:xfrm>
          <a:prstGeom prst="line">
            <a:avLst/>
          </a:prstGeom>
          <a:noFill/>
          <a:ln w="12700">
            <a:solidFill>
              <a:srgbClr val="4F46E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7200" y="2651760"/>
            <a:ext cx="347472" cy="3474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51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6517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room created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" y="290779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dm:emailA::emailB via Socket.IO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" y="2999232"/>
            <a:ext cx="0" cy="402336"/>
          </a:xfrm>
          <a:prstGeom prst="line">
            <a:avLst/>
          </a:prstGeom>
          <a:noFill/>
          <a:ln w="12700">
            <a:solidFill>
              <a:srgbClr val="4F46E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" y="3401568"/>
            <a:ext cx="347472" cy="3474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01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34015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sent &amp; saved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65760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channelId = member-{email} in MongoDB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" y="3749040"/>
            <a:ext cx="0" cy="402336"/>
          </a:xfrm>
          <a:prstGeom prst="line">
            <a:avLst/>
          </a:prstGeom>
          <a:noFill/>
          <a:ln w="12700">
            <a:solidFill>
              <a:srgbClr val="4F46E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7200" y="4151376"/>
            <a:ext cx="347472" cy="3474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51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415137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people can see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44074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global search results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1389888"/>
            <a:ext cx="41148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389888"/>
            <a:ext cx="4114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4081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Features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192024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190" y="2023110"/>
            <a:ext cx="205740" cy="20574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376672" y="19202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keys stored per user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846320" y="2578608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190" y="2681478"/>
            <a:ext cx="205740" cy="20574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376672" y="257860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text encrypted AES-256 before saving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4846320" y="3236976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190" y="3339846"/>
            <a:ext cx="205740" cy="20574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376672" y="3236976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fully excluded from workspace-wide search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4846320" y="3895344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9190" y="3998214"/>
            <a:ext cx="205740" cy="20574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376672" y="389534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file attachments supported</a:t>
            </a:r>
            <a:endParaRPr lang="en-US" sz="1150" dirty="0"/>
          </a:p>
        </p:txBody>
      </p:sp>
      <p:sp>
        <p:nvSpPr>
          <p:cNvPr id="42" name="Shape 36"/>
          <p:cNvSpPr/>
          <p:nvPr/>
        </p:nvSpPr>
        <p:spPr>
          <a:xfrm>
            <a:off x="4846320" y="4553712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9190" y="4656582"/>
            <a:ext cx="205740" cy="20574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376672" y="455371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 visible to the other party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Sharing &amp; Rich Media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more than text — attach files, record voice, share your screen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0662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2706624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7592" y="1536192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612" y="169621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28600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Attachments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84048" y="261518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ZIP and more. Stored on Cloudinary CDN, shown as download links in chat.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18688" y="1371600"/>
            <a:ext cx="270662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18688" y="1371600"/>
            <a:ext cx="270662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51960" y="1536192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980" y="169621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10128" y="228600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328416" y="261518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preview images inline. Thumbnails render right inside the message feed.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63056" y="1371600"/>
            <a:ext cx="270662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63056" y="1371600"/>
            <a:ext cx="270662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196328" y="1536192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348" y="1696212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54496" y="228600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Messages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272784" y="261518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audio clips from the chat input and share as playable voice messages.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74320" y="3218688"/>
            <a:ext cx="270662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74320" y="3218688"/>
            <a:ext cx="270662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307592" y="338328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7612" y="3543300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65760" y="413308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Messages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384048" y="446227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send short video clips with an inline player in the chat.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218688" y="3218688"/>
            <a:ext cx="270662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18688" y="3218688"/>
            <a:ext cx="2706624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251960" y="3383280"/>
            <a:ext cx="640080" cy="6400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1980" y="354330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310128" y="413308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 Recording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3328416" y="446227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screen and share it as a video message without leaving the workspace.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6163056" y="3218688"/>
            <a:ext cx="270662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63056" y="3218688"/>
            <a:ext cx="2706624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7196328" y="3383280"/>
            <a:ext cx="640080" cy="64008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6348" y="3543300"/>
            <a:ext cx="320040" cy="32004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254496" y="413308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 Previews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6272784" y="446227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automatically unfurl to show title, image and description.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Leave Management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review and track leave — with automated email notifications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92608" y="1371600"/>
            <a:ext cx="530352" cy="53035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" y="1504188"/>
            <a:ext cx="265176" cy="2651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0120" y="1353312"/>
            <a:ext cx="3977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0120" y="1353312"/>
            <a:ext cx="54864" cy="6583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1399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Applies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97280" y="1691640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type (Planned / Emergency), category, dates and reason. Inputs are validated.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6928" y="2651760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292608" y="2103120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" y="2235708"/>
            <a:ext cx="265176" cy="26517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60120" y="2084832"/>
            <a:ext cx="3977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0120" y="2084832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97280" y="2130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Alerted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097280" y="2423160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sends email to admin. Socket.IO also pushes a live notification badge immediately.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66928" y="3383280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292608" y="2834640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" y="2967228"/>
            <a:ext cx="265176" cy="26517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60120" y="2816352"/>
            <a:ext cx="3977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60120" y="2816352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097280" y="2862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Reviews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097280" y="3154680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→ Leave tab: approve or reject with an optional admin note in one click.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66928" y="4114800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8" name="Shape 23"/>
          <p:cNvSpPr/>
          <p:nvPr/>
        </p:nvSpPr>
        <p:spPr>
          <a:xfrm>
            <a:off x="292608" y="3566160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" y="3698748"/>
            <a:ext cx="265176" cy="265176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960120" y="3547872"/>
            <a:ext cx="3977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60120" y="3547872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1097280" y="3593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Notified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097280" y="3886200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email sent to user (only if email notifications are enabled in their settings).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292608" y="4297680"/>
            <a:ext cx="530352" cy="5303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196" y="4430268"/>
            <a:ext cx="265176" cy="265176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960120" y="4279392"/>
            <a:ext cx="3977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960120" y="4279392"/>
            <a:ext cx="54864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1097280" y="4325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 Updated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1097280" y="4617720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leave is factored into the attendance calculation — marked Full or Half day.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5166360" y="1353312"/>
            <a:ext cx="3703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5166360" y="1353312"/>
            <a:ext cx="37033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5257800" y="1371600"/>
            <a:ext cx="3520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Leave Types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5230368" y="1865376"/>
            <a:ext cx="3547872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5285232" y="1938528"/>
            <a:ext cx="219456" cy="21945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5596128" y="189280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Leave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5596128" y="212140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Vacation, Personal — start and end date range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5230368" y="2487168"/>
            <a:ext cx="35478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5285232" y="2560320"/>
            <a:ext cx="219456" cy="21945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5596128" y="251460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Leave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5596128" y="274320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same-day — Full or Half day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5230368" y="3108960"/>
            <a:ext cx="3547872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5285232" y="3182112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5596128" y="313639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 Leave</a:t>
            </a:r>
            <a:endParaRPr lang="en-US" sz="1100" dirty="0"/>
          </a:p>
        </p:txBody>
      </p:sp>
      <p:sp>
        <p:nvSpPr>
          <p:cNvPr id="54" name="Text 47"/>
          <p:cNvSpPr/>
          <p:nvPr/>
        </p:nvSpPr>
        <p:spPr>
          <a:xfrm>
            <a:off x="5596128" y="336499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under Planned — tracked separately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5230368" y="3730752"/>
            <a:ext cx="35478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5285232" y="3803904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5596128" y="37581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Leave</a:t>
            </a:r>
            <a:endParaRPr lang="en-US" sz="1100" dirty="0"/>
          </a:p>
        </p:txBody>
      </p:sp>
      <p:sp>
        <p:nvSpPr>
          <p:cNvPr id="58" name="Text 51"/>
          <p:cNvSpPr/>
          <p:nvPr/>
        </p:nvSpPr>
        <p:spPr>
          <a:xfrm>
            <a:off x="5596128" y="39867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category for personal commitments</a:t>
            </a:r>
            <a:endParaRPr lang="en-US" sz="1000" dirty="0"/>
          </a:p>
        </p:txBody>
      </p:sp>
      <p:sp>
        <p:nvSpPr>
          <p:cNvPr id="59" name="Shape 52"/>
          <p:cNvSpPr/>
          <p:nvPr/>
        </p:nvSpPr>
        <p:spPr>
          <a:xfrm>
            <a:off x="5230368" y="4352544"/>
            <a:ext cx="3547872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5285232" y="4425696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5596128" y="437997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100" dirty="0"/>
          </a:p>
        </p:txBody>
      </p:sp>
      <p:sp>
        <p:nvSpPr>
          <p:cNvPr id="62" name="Text 55"/>
          <p:cNvSpPr/>
          <p:nvPr/>
        </p:nvSpPr>
        <p:spPr>
          <a:xfrm>
            <a:off x="5596128" y="460857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Catch-all with free-text reason field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Kanban Board — Task Management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task tracking across three columns, updated live for the whole team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69748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316736"/>
            <a:ext cx="24871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Do  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773936"/>
            <a:ext cx="26974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47088"/>
            <a:ext cx="2514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1920240"/>
            <a:ext cx="146304" cy="14630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8836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onboarding flow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" y="2414016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Task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2514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926080"/>
            <a:ext cx="146304" cy="14630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8895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API documentation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" y="3419856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Task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858768"/>
            <a:ext cx="2514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3931920"/>
            <a:ext cx="146304" cy="14630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8953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layout review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" y="4425696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Task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18688" y="1298448"/>
            <a:ext cx="269748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28416" y="1316736"/>
            <a:ext cx="24871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  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18688" y="1773936"/>
            <a:ext cx="26974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1847088"/>
            <a:ext cx="2514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19856" y="1920240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18836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 refactor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19856" y="2414016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Task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10128" y="2852928"/>
            <a:ext cx="2514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19856" y="2926080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28895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export CSV feature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419856" y="3419856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Task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10128" y="3858768"/>
            <a:ext cx="2514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19856" y="3931920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38953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load testing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419856" y="4425696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Task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63056" y="1298448"/>
            <a:ext cx="26974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72784" y="1316736"/>
            <a:ext cx="24871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  3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63056" y="1773936"/>
            <a:ext cx="26974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54496" y="1847088"/>
            <a:ext cx="2514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64224" y="192024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01968" y="18836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migration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364224" y="2414016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Task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54496" y="2852928"/>
            <a:ext cx="2514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64224" y="292608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01968" y="28895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refresh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364224" y="3419856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Task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54496" y="3858768"/>
            <a:ext cx="2514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64224" y="393192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01968" y="38953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integration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364224" y="4425696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Task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 saved to MongoDB  ·  Updates broadcast via Socket.IO  ·  Changes appear for all members instantly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Wiki &amp; Notepad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knowledge base and personal scratch pad — all built into the dashboard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4160520" cy="5303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362456"/>
            <a:ext cx="402336" cy="402336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6304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13350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Wiki — Team Knowledge Base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47472" y="1938528"/>
            <a:ext cx="4005072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8912" y="2011680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19659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310128" y="1993392"/>
            <a:ext cx="950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47472" y="2432304"/>
            <a:ext cx="40050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8912" y="2505456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245973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Guidelines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310128" y="2487168"/>
            <a:ext cx="950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47472" y="2926080"/>
            <a:ext cx="4005072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8912" y="2999232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" y="29535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310128" y="2980944"/>
            <a:ext cx="950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47472" y="3419856"/>
            <a:ext cx="40050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8912" y="3493008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34472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3310128" y="3474720"/>
            <a:ext cx="950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47472" y="3913632"/>
            <a:ext cx="4005072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8912" y="3986784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" y="394106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Checklist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3310128" y="3968496"/>
            <a:ext cx="950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84048" y="453542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Public (all members) or Private (admin only) · Rich text · Saved to MongoDB WikiPage model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709160" y="1298448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709160" y="1298448"/>
            <a:ext cx="416052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18888" y="1362456"/>
            <a:ext cx="402336" cy="402336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463040"/>
            <a:ext cx="201168" cy="20116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330952" y="13350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Notepad — Personal Notes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4782312" y="1920240"/>
            <a:ext cx="12344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782312" y="19202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Notes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6080760" y="1920240"/>
            <a:ext cx="123444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080760" y="19202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Emails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7379208" y="1920240"/>
            <a:ext cx="123444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379208" y="19202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782312" y="2240280"/>
            <a:ext cx="3931920" cy="2359152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828032" y="2880360"/>
            <a:ext cx="384048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919472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with client @ 3pm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4828032" y="3300984"/>
            <a:ext cx="384048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919472" y="27523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 #24 before EOD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4828032" y="3721608"/>
            <a:ext cx="384048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919472" y="3172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onboarding email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4828032" y="4142232"/>
            <a:ext cx="384048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919472" y="3593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MongoDB indexes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4828032" y="4562856"/>
            <a:ext cx="3840480" cy="0"/>
          </a:xfrm>
          <a:prstGeom prst="line">
            <a:avLst/>
          </a:prstGeom>
          <a:noFill/>
          <a:ln w="6350">
            <a:solidFill>
              <a:srgbClr val="E0E7FF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919472" y="40142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4" name="Text 50"/>
          <p:cNvSpPr/>
          <p:nvPr/>
        </p:nvSpPr>
        <p:spPr>
          <a:xfrm>
            <a:off x="4782312" y="466344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visible to owner  ·  Multiple named pads  ·  Share to channel  ·  Auto-saves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Calendar &amp; Scheduling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purpose-built calendars — availability, leaves, and personal activity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269748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53312"/>
            <a:ext cx="384048" cy="384048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" y="1449324"/>
            <a:ext cx="192024" cy="1920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344168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Availability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13232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60704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408176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755648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103120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450592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74904" y="2103120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4904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22376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69848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417320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764792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112264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459736" y="2103120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459736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74904" y="2404872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74904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2376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069848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417320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764792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112264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2459736" y="2404872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459736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4904" y="2706624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74904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22376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1069848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417320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1764792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2112264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2459736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74904" y="3008376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74904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22376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069848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417320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1764792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2112264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2459736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411480" y="3383280"/>
            <a:ext cx="146304" cy="14630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40080" y="3346704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marks days Available / Busy / Away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411480" y="3858768"/>
            <a:ext cx="146304" cy="14630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0080" y="382219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 see it in real-time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411480" y="4334256"/>
            <a:ext cx="146304" cy="14630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40080" y="4297680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team know when to reach admin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3218688" y="1298448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3218688" y="1298448"/>
            <a:ext cx="269748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310128" y="1353312"/>
            <a:ext cx="384048" cy="384048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140" y="1449324"/>
            <a:ext cx="192024" cy="192024"/>
          </a:xfrm>
          <a:prstGeom prst="rect">
            <a:avLst/>
          </a:prstGeom>
        </p:spPr>
      </p:pic>
      <p:sp>
        <p:nvSpPr>
          <p:cNvPr id="62" name="Text 58"/>
          <p:cNvSpPr/>
          <p:nvPr/>
        </p:nvSpPr>
        <p:spPr>
          <a:xfrm>
            <a:off x="3813048" y="1344168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Leave Calendar</a:t>
            </a:r>
            <a:endParaRPr lang="en-US" sz="1200" dirty="0"/>
          </a:p>
        </p:txBody>
      </p:sp>
      <p:sp>
        <p:nvSpPr>
          <p:cNvPr id="63" name="Text 59"/>
          <p:cNvSpPr/>
          <p:nvPr/>
        </p:nvSpPr>
        <p:spPr>
          <a:xfrm>
            <a:off x="3310128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50" dirty="0"/>
          </a:p>
        </p:txBody>
      </p:sp>
      <p:sp>
        <p:nvSpPr>
          <p:cNvPr id="64" name="Text 60"/>
          <p:cNvSpPr/>
          <p:nvPr/>
        </p:nvSpPr>
        <p:spPr>
          <a:xfrm>
            <a:off x="3657600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50" dirty="0"/>
          </a:p>
        </p:txBody>
      </p:sp>
      <p:sp>
        <p:nvSpPr>
          <p:cNvPr id="65" name="Text 61"/>
          <p:cNvSpPr/>
          <p:nvPr/>
        </p:nvSpPr>
        <p:spPr>
          <a:xfrm>
            <a:off x="4005072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850" dirty="0"/>
          </a:p>
        </p:txBody>
      </p:sp>
      <p:sp>
        <p:nvSpPr>
          <p:cNvPr id="66" name="Text 62"/>
          <p:cNvSpPr/>
          <p:nvPr/>
        </p:nvSpPr>
        <p:spPr>
          <a:xfrm>
            <a:off x="4352544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50" dirty="0"/>
          </a:p>
        </p:txBody>
      </p:sp>
      <p:sp>
        <p:nvSpPr>
          <p:cNvPr id="67" name="Text 63"/>
          <p:cNvSpPr/>
          <p:nvPr/>
        </p:nvSpPr>
        <p:spPr>
          <a:xfrm>
            <a:off x="4700016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50" dirty="0"/>
          </a:p>
        </p:txBody>
      </p:sp>
      <p:sp>
        <p:nvSpPr>
          <p:cNvPr id="68" name="Text 64"/>
          <p:cNvSpPr/>
          <p:nvPr/>
        </p:nvSpPr>
        <p:spPr>
          <a:xfrm>
            <a:off x="5047488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50" dirty="0"/>
          </a:p>
        </p:txBody>
      </p:sp>
      <p:sp>
        <p:nvSpPr>
          <p:cNvPr id="69" name="Text 65"/>
          <p:cNvSpPr/>
          <p:nvPr/>
        </p:nvSpPr>
        <p:spPr>
          <a:xfrm>
            <a:off x="5394960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50" dirty="0"/>
          </a:p>
        </p:txBody>
      </p:sp>
      <p:sp>
        <p:nvSpPr>
          <p:cNvPr id="70" name="Text 66"/>
          <p:cNvSpPr/>
          <p:nvPr/>
        </p:nvSpPr>
        <p:spPr>
          <a:xfrm>
            <a:off x="3319272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1" name="Text 67"/>
          <p:cNvSpPr/>
          <p:nvPr/>
        </p:nvSpPr>
        <p:spPr>
          <a:xfrm>
            <a:off x="3666744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2" name="Text 68"/>
          <p:cNvSpPr/>
          <p:nvPr/>
        </p:nvSpPr>
        <p:spPr>
          <a:xfrm>
            <a:off x="4014216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3" name="Text 69"/>
          <p:cNvSpPr/>
          <p:nvPr/>
        </p:nvSpPr>
        <p:spPr>
          <a:xfrm>
            <a:off x="4361688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4" name="Shape 70"/>
          <p:cNvSpPr/>
          <p:nvPr/>
        </p:nvSpPr>
        <p:spPr>
          <a:xfrm>
            <a:off x="4709160" y="2103120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4709160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6" name="Shape 72"/>
          <p:cNvSpPr/>
          <p:nvPr/>
        </p:nvSpPr>
        <p:spPr>
          <a:xfrm>
            <a:off x="5056632" y="2103120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5056632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8" name="Text 74"/>
          <p:cNvSpPr/>
          <p:nvPr/>
        </p:nvSpPr>
        <p:spPr>
          <a:xfrm>
            <a:off x="5404104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79" name="Text 75"/>
          <p:cNvSpPr/>
          <p:nvPr/>
        </p:nvSpPr>
        <p:spPr>
          <a:xfrm>
            <a:off x="3319272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80" name="Text 76"/>
          <p:cNvSpPr/>
          <p:nvPr/>
        </p:nvSpPr>
        <p:spPr>
          <a:xfrm>
            <a:off x="3666744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81" name="Text 77"/>
          <p:cNvSpPr/>
          <p:nvPr/>
        </p:nvSpPr>
        <p:spPr>
          <a:xfrm>
            <a:off x="4014216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4361688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83" name="Shape 79"/>
          <p:cNvSpPr/>
          <p:nvPr/>
        </p:nvSpPr>
        <p:spPr>
          <a:xfrm>
            <a:off x="4709160" y="2404872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4709160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85" name="Text 81"/>
          <p:cNvSpPr/>
          <p:nvPr/>
        </p:nvSpPr>
        <p:spPr>
          <a:xfrm>
            <a:off x="5056632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86" name="Text 82"/>
          <p:cNvSpPr/>
          <p:nvPr/>
        </p:nvSpPr>
        <p:spPr>
          <a:xfrm>
            <a:off x="5404104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3319272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88" name="Text 84"/>
          <p:cNvSpPr/>
          <p:nvPr/>
        </p:nvSpPr>
        <p:spPr>
          <a:xfrm>
            <a:off x="3666744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89" name="Text 85"/>
          <p:cNvSpPr/>
          <p:nvPr/>
        </p:nvSpPr>
        <p:spPr>
          <a:xfrm>
            <a:off x="4014216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90" name="Text 86"/>
          <p:cNvSpPr/>
          <p:nvPr/>
        </p:nvSpPr>
        <p:spPr>
          <a:xfrm>
            <a:off x="4361688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91" name="Shape 87"/>
          <p:cNvSpPr/>
          <p:nvPr/>
        </p:nvSpPr>
        <p:spPr>
          <a:xfrm>
            <a:off x="4709160" y="2706624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4709160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93" name="Shape 89"/>
          <p:cNvSpPr/>
          <p:nvPr/>
        </p:nvSpPr>
        <p:spPr>
          <a:xfrm>
            <a:off x="5056632" y="2706624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4" name="Text 90"/>
          <p:cNvSpPr/>
          <p:nvPr/>
        </p:nvSpPr>
        <p:spPr>
          <a:xfrm>
            <a:off x="5056632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95" name="Text 91"/>
          <p:cNvSpPr/>
          <p:nvPr/>
        </p:nvSpPr>
        <p:spPr>
          <a:xfrm>
            <a:off x="5404104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3319272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97" name="Text 93"/>
          <p:cNvSpPr/>
          <p:nvPr/>
        </p:nvSpPr>
        <p:spPr>
          <a:xfrm>
            <a:off x="3666744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98" name="Text 94"/>
          <p:cNvSpPr/>
          <p:nvPr/>
        </p:nvSpPr>
        <p:spPr>
          <a:xfrm>
            <a:off x="4014216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99" name="Text 95"/>
          <p:cNvSpPr/>
          <p:nvPr/>
        </p:nvSpPr>
        <p:spPr>
          <a:xfrm>
            <a:off x="4361688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100" name="Text 96"/>
          <p:cNvSpPr/>
          <p:nvPr/>
        </p:nvSpPr>
        <p:spPr>
          <a:xfrm>
            <a:off x="4709160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101" name="Text 97"/>
          <p:cNvSpPr/>
          <p:nvPr/>
        </p:nvSpPr>
        <p:spPr>
          <a:xfrm>
            <a:off x="5056632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102" name="Text 98"/>
          <p:cNvSpPr/>
          <p:nvPr/>
        </p:nvSpPr>
        <p:spPr>
          <a:xfrm>
            <a:off x="5404104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103" name="Shape 99"/>
          <p:cNvSpPr/>
          <p:nvPr/>
        </p:nvSpPr>
        <p:spPr>
          <a:xfrm>
            <a:off x="3355848" y="3383280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4" name="Text 100"/>
          <p:cNvSpPr/>
          <p:nvPr/>
        </p:nvSpPr>
        <p:spPr>
          <a:xfrm>
            <a:off x="3584448" y="3346704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view of all team leaves</a:t>
            </a:r>
            <a:endParaRPr lang="en-US" sz="1050" dirty="0"/>
          </a:p>
        </p:txBody>
      </p:sp>
      <p:sp>
        <p:nvSpPr>
          <p:cNvPr id="105" name="Shape 101"/>
          <p:cNvSpPr/>
          <p:nvPr/>
        </p:nvSpPr>
        <p:spPr>
          <a:xfrm>
            <a:off x="3355848" y="3858768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6" name="Text 102"/>
          <p:cNvSpPr/>
          <p:nvPr/>
        </p:nvSpPr>
        <p:spPr>
          <a:xfrm>
            <a:off x="3584448" y="382219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by approval status</a:t>
            </a:r>
            <a:endParaRPr lang="en-US" sz="1050" dirty="0"/>
          </a:p>
        </p:txBody>
      </p:sp>
      <p:sp>
        <p:nvSpPr>
          <p:cNvPr id="107" name="Shape 103"/>
          <p:cNvSpPr/>
          <p:nvPr/>
        </p:nvSpPr>
        <p:spPr>
          <a:xfrm>
            <a:off x="3355848" y="4334256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4"/>
          <p:cNvSpPr/>
          <p:nvPr/>
        </p:nvSpPr>
        <p:spPr>
          <a:xfrm>
            <a:off x="3584448" y="4297680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plans workload around absences</a:t>
            </a:r>
            <a:endParaRPr lang="en-US" sz="1050" dirty="0"/>
          </a:p>
        </p:txBody>
      </p:sp>
      <p:sp>
        <p:nvSpPr>
          <p:cNvPr id="109" name="Shape 105"/>
          <p:cNvSpPr/>
          <p:nvPr/>
        </p:nvSpPr>
        <p:spPr>
          <a:xfrm>
            <a:off x="6163056" y="1298448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0" name="Shape 106"/>
          <p:cNvSpPr/>
          <p:nvPr/>
        </p:nvSpPr>
        <p:spPr>
          <a:xfrm>
            <a:off x="6163056" y="1298448"/>
            <a:ext cx="2697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6254496" y="1353312"/>
            <a:ext cx="384048" cy="384048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508" y="1449324"/>
            <a:ext cx="192024" cy="192024"/>
          </a:xfrm>
          <a:prstGeom prst="rect">
            <a:avLst/>
          </a:prstGeom>
        </p:spPr>
      </p:pic>
      <p:sp>
        <p:nvSpPr>
          <p:cNvPr id="113" name="Text 108"/>
          <p:cNvSpPr/>
          <p:nvPr/>
        </p:nvSpPr>
        <p:spPr>
          <a:xfrm>
            <a:off x="6757416" y="1344168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Activity Calendar</a:t>
            </a:r>
            <a:endParaRPr lang="en-US" sz="1200" dirty="0"/>
          </a:p>
        </p:txBody>
      </p:sp>
      <p:sp>
        <p:nvSpPr>
          <p:cNvPr id="114" name="Text 109"/>
          <p:cNvSpPr/>
          <p:nvPr/>
        </p:nvSpPr>
        <p:spPr>
          <a:xfrm>
            <a:off x="6254496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50" dirty="0"/>
          </a:p>
        </p:txBody>
      </p:sp>
      <p:sp>
        <p:nvSpPr>
          <p:cNvPr id="115" name="Text 110"/>
          <p:cNvSpPr/>
          <p:nvPr/>
        </p:nvSpPr>
        <p:spPr>
          <a:xfrm>
            <a:off x="6601968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50" dirty="0"/>
          </a:p>
        </p:txBody>
      </p:sp>
      <p:sp>
        <p:nvSpPr>
          <p:cNvPr id="116" name="Text 111"/>
          <p:cNvSpPr/>
          <p:nvPr/>
        </p:nvSpPr>
        <p:spPr>
          <a:xfrm>
            <a:off x="6949440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850" dirty="0"/>
          </a:p>
        </p:txBody>
      </p:sp>
      <p:sp>
        <p:nvSpPr>
          <p:cNvPr id="117" name="Text 112"/>
          <p:cNvSpPr/>
          <p:nvPr/>
        </p:nvSpPr>
        <p:spPr>
          <a:xfrm>
            <a:off x="7296912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50" dirty="0"/>
          </a:p>
        </p:txBody>
      </p:sp>
      <p:sp>
        <p:nvSpPr>
          <p:cNvPr id="118" name="Text 113"/>
          <p:cNvSpPr/>
          <p:nvPr/>
        </p:nvSpPr>
        <p:spPr>
          <a:xfrm>
            <a:off x="7644384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50" dirty="0"/>
          </a:p>
        </p:txBody>
      </p:sp>
      <p:sp>
        <p:nvSpPr>
          <p:cNvPr id="119" name="Text 114"/>
          <p:cNvSpPr/>
          <p:nvPr/>
        </p:nvSpPr>
        <p:spPr>
          <a:xfrm>
            <a:off x="7991856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50" dirty="0"/>
          </a:p>
        </p:txBody>
      </p:sp>
      <p:sp>
        <p:nvSpPr>
          <p:cNvPr id="120" name="Text 115"/>
          <p:cNvSpPr/>
          <p:nvPr/>
        </p:nvSpPr>
        <p:spPr>
          <a:xfrm>
            <a:off x="8339328" y="18836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50" dirty="0"/>
          </a:p>
        </p:txBody>
      </p:sp>
      <p:sp>
        <p:nvSpPr>
          <p:cNvPr id="121" name="Shape 116"/>
          <p:cNvSpPr/>
          <p:nvPr/>
        </p:nvSpPr>
        <p:spPr>
          <a:xfrm>
            <a:off x="6263640" y="210312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2" name="Text 117"/>
          <p:cNvSpPr/>
          <p:nvPr/>
        </p:nvSpPr>
        <p:spPr>
          <a:xfrm>
            <a:off x="6263640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23" name="Shape 118"/>
          <p:cNvSpPr/>
          <p:nvPr/>
        </p:nvSpPr>
        <p:spPr>
          <a:xfrm>
            <a:off x="6611112" y="210312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4" name="Text 119"/>
          <p:cNvSpPr/>
          <p:nvPr/>
        </p:nvSpPr>
        <p:spPr>
          <a:xfrm>
            <a:off x="6611112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5" name="Shape 120"/>
          <p:cNvSpPr/>
          <p:nvPr/>
        </p:nvSpPr>
        <p:spPr>
          <a:xfrm>
            <a:off x="6958584" y="210312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6" name="Text 121"/>
          <p:cNvSpPr/>
          <p:nvPr/>
        </p:nvSpPr>
        <p:spPr>
          <a:xfrm>
            <a:off x="6958584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27" name="Shape 122"/>
          <p:cNvSpPr/>
          <p:nvPr/>
        </p:nvSpPr>
        <p:spPr>
          <a:xfrm>
            <a:off x="7306056" y="210312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8" name="Text 123"/>
          <p:cNvSpPr/>
          <p:nvPr/>
        </p:nvSpPr>
        <p:spPr>
          <a:xfrm>
            <a:off x="7306056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29" name="Shape 124"/>
          <p:cNvSpPr/>
          <p:nvPr/>
        </p:nvSpPr>
        <p:spPr>
          <a:xfrm>
            <a:off x="7653528" y="210312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0" name="Text 125"/>
          <p:cNvSpPr/>
          <p:nvPr/>
        </p:nvSpPr>
        <p:spPr>
          <a:xfrm>
            <a:off x="7653528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31" name="Text 126"/>
          <p:cNvSpPr/>
          <p:nvPr/>
        </p:nvSpPr>
        <p:spPr>
          <a:xfrm>
            <a:off x="8001000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32" name="Text 127"/>
          <p:cNvSpPr/>
          <p:nvPr/>
        </p:nvSpPr>
        <p:spPr>
          <a:xfrm>
            <a:off x="8348472" y="2103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133" name="Shape 128"/>
          <p:cNvSpPr/>
          <p:nvPr/>
        </p:nvSpPr>
        <p:spPr>
          <a:xfrm>
            <a:off x="6263640" y="240487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4" name="Text 129"/>
          <p:cNvSpPr/>
          <p:nvPr/>
        </p:nvSpPr>
        <p:spPr>
          <a:xfrm>
            <a:off x="6263640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135" name="Shape 130"/>
          <p:cNvSpPr/>
          <p:nvPr/>
        </p:nvSpPr>
        <p:spPr>
          <a:xfrm>
            <a:off x="6611112" y="240487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6" name="Text 131"/>
          <p:cNvSpPr/>
          <p:nvPr/>
        </p:nvSpPr>
        <p:spPr>
          <a:xfrm>
            <a:off x="6611112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137" name="Shape 132"/>
          <p:cNvSpPr/>
          <p:nvPr/>
        </p:nvSpPr>
        <p:spPr>
          <a:xfrm>
            <a:off x="6958584" y="240487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8" name="Text 133"/>
          <p:cNvSpPr/>
          <p:nvPr/>
        </p:nvSpPr>
        <p:spPr>
          <a:xfrm>
            <a:off x="6958584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139" name="Shape 134"/>
          <p:cNvSpPr/>
          <p:nvPr/>
        </p:nvSpPr>
        <p:spPr>
          <a:xfrm>
            <a:off x="7306056" y="240487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0" name="Text 135"/>
          <p:cNvSpPr/>
          <p:nvPr/>
        </p:nvSpPr>
        <p:spPr>
          <a:xfrm>
            <a:off x="7306056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141" name="Text 136"/>
          <p:cNvSpPr/>
          <p:nvPr/>
        </p:nvSpPr>
        <p:spPr>
          <a:xfrm>
            <a:off x="7653528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142" name="Text 137"/>
          <p:cNvSpPr/>
          <p:nvPr/>
        </p:nvSpPr>
        <p:spPr>
          <a:xfrm>
            <a:off x="8001000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143" name="Text 138"/>
          <p:cNvSpPr/>
          <p:nvPr/>
        </p:nvSpPr>
        <p:spPr>
          <a:xfrm>
            <a:off x="8348472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144" name="Shape 139"/>
          <p:cNvSpPr/>
          <p:nvPr/>
        </p:nvSpPr>
        <p:spPr>
          <a:xfrm>
            <a:off x="6263640" y="270662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5" name="Text 140"/>
          <p:cNvSpPr/>
          <p:nvPr/>
        </p:nvSpPr>
        <p:spPr>
          <a:xfrm>
            <a:off x="6263640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146" name="Text 141"/>
          <p:cNvSpPr/>
          <p:nvPr/>
        </p:nvSpPr>
        <p:spPr>
          <a:xfrm>
            <a:off x="6611112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147" name="Text 142"/>
          <p:cNvSpPr/>
          <p:nvPr/>
        </p:nvSpPr>
        <p:spPr>
          <a:xfrm>
            <a:off x="6958584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148" name="Text 143"/>
          <p:cNvSpPr/>
          <p:nvPr/>
        </p:nvSpPr>
        <p:spPr>
          <a:xfrm>
            <a:off x="7306056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149" name="Text 144"/>
          <p:cNvSpPr/>
          <p:nvPr/>
        </p:nvSpPr>
        <p:spPr>
          <a:xfrm>
            <a:off x="7653528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150" name="Text 145"/>
          <p:cNvSpPr/>
          <p:nvPr/>
        </p:nvSpPr>
        <p:spPr>
          <a:xfrm>
            <a:off x="8001000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151" name="Text 146"/>
          <p:cNvSpPr/>
          <p:nvPr/>
        </p:nvSpPr>
        <p:spPr>
          <a:xfrm>
            <a:off x="8348472" y="2706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152" name="Text 147"/>
          <p:cNvSpPr/>
          <p:nvPr/>
        </p:nvSpPr>
        <p:spPr>
          <a:xfrm>
            <a:off x="6263640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153" name="Text 148"/>
          <p:cNvSpPr/>
          <p:nvPr/>
        </p:nvSpPr>
        <p:spPr>
          <a:xfrm>
            <a:off x="6611112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154" name="Text 149"/>
          <p:cNvSpPr/>
          <p:nvPr/>
        </p:nvSpPr>
        <p:spPr>
          <a:xfrm>
            <a:off x="6958584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155" name="Text 150"/>
          <p:cNvSpPr/>
          <p:nvPr/>
        </p:nvSpPr>
        <p:spPr>
          <a:xfrm>
            <a:off x="7306056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156" name="Text 151"/>
          <p:cNvSpPr/>
          <p:nvPr/>
        </p:nvSpPr>
        <p:spPr>
          <a:xfrm>
            <a:off x="7653528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157" name="Text 152"/>
          <p:cNvSpPr/>
          <p:nvPr/>
        </p:nvSpPr>
        <p:spPr>
          <a:xfrm>
            <a:off x="8001000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158" name="Text 153"/>
          <p:cNvSpPr/>
          <p:nvPr/>
        </p:nvSpPr>
        <p:spPr>
          <a:xfrm>
            <a:off x="8348472" y="3008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159" name="Shape 154"/>
          <p:cNvSpPr/>
          <p:nvPr/>
        </p:nvSpPr>
        <p:spPr>
          <a:xfrm>
            <a:off x="6300216" y="338328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0" name="Text 155"/>
          <p:cNvSpPr/>
          <p:nvPr/>
        </p:nvSpPr>
        <p:spPr>
          <a:xfrm>
            <a:off x="6528816" y="3346704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login day tracking</a:t>
            </a:r>
            <a:endParaRPr lang="en-US" sz="1050" dirty="0"/>
          </a:p>
        </p:txBody>
      </p:sp>
      <p:sp>
        <p:nvSpPr>
          <p:cNvPr id="161" name="Shape 156"/>
          <p:cNvSpPr/>
          <p:nvPr/>
        </p:nvSpPr>
        <p:spPr>
          <a:xfrm>
            <a:off x="6300216" y="385876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2" name="Text 157"/>
          <p:cNvSpPr/>
          <p:nvPr/>
        </p:nvSpPr>
        <p:spPr>
          <a:xfrm>
            <a:off x="6528816" y="382219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dots = days you logged in</a:t>
            </a:r>
            <a:endParaRPr lang="en-US" sz="1050" dirty="0"/>
          </a:p>
        </p:txBody>
      </p:sp>
      <p:sp>
        <p:nvSpPr>
          <p:cNvPr id="163" name="Shape 158"/>
          <p:cNvSpPr/>
          <p:nvPr/>
        </p:nvSpPr>
        <p:spPr>
          <a:xfrm>
            <a:off x="6300216" y="433425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4" name="Text 159"/>
          <p:cNvSpPr/>
          <p:nvPr/>
        </p:nvSpPr>
        <p:spPr>
          <a:xfrm>
            <a:off x="6528816" y="4297680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from LoginEvent MongoDB records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4C1D95">
              <a:alpha val="20000"/>
            </a:srgbClr>
          </a:solidFill>
          <a:ln w="12700">
            <a:solidFill>
              <a:srgbClr val="4C1D95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Control Panel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Admin role can access this — the command centre for the entire workspace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69748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99616"/>
            <a:ext cx="566928" cy="5669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164134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51790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38912" y="2231136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approve, reject or permanently remove member access requests.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18688" y="1298448"/>
            <a:ext cx="269748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01568" y="1499616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164134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151790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Leave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83280" y="2231136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leave applications. Approve or reject with an admin note.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63056" y="1298448"/>
            <a:ext cx="269748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45936" y="1499616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668" y="1641348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59168" y="151790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27648" y="2231136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of active workspace members with details and last login.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74320" y="3127248"/>
            <a:ext cx="269748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3328416"/>
            <a:ext cx="566928" cy="5669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" y="3470148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70432" y="334670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38912" y="4059936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log of every admin action — approvals, removals, changes.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18688" y="3127248"/>
            <a:ext cx="269748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401568" y="3328416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3300" y="3470148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114800" y="334670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3383280" y="4059936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for login frequency, message volume, and attendance trends.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163056" y="3127248"/>
            <a:ext cx="269748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45936" y="3328416"/>
            <a:ext cx="566928" cy="5669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7668" y="3470148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59168" y="334670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6327648" y="4059936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daily status so the team knows when to reach you.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 &amp; Activity Tracking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attendance calculation from login and logout events in real-time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4160520" cy="4114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16736"/>
            <a:ext cx="3977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Attendance is Calculated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92608" y="1828800"/>
            <a:ext cx="438912" cy="43891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938528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1248" y="18470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41248" y="20756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LoginEvent created with email, name, date &amp; login time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2962656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292608" y="2487168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2596896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41248" y="250545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41248" y="273405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hoursWorked calculated. ≥5h=Full, ≥2.5h=Half, else Absent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48640" y="3621024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292608" y="3145536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3255264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" y="316382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Check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41248" y="339242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leave for that date overrides the attendance mark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48640" y="4279392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292608" y="3803904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3913632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41248" y="38221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841248" y="405079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Tracker Calendar shows each member colour-coded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292608" y="446227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" y="4572000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41248" y="44805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View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841248" y="470916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Activity Calendar shows personal login days as markers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709160" y="1298448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709160" y="1298448"/>
            <a:ext cx="41605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800600" y="1316736"/>
            <a:ext cx="3977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Tracked in MongoDB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4773168" y="1828800"/>
            <a:ext cx="400507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773168" y="1828800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892040" y="188366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6583680" y="1883664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for fast lookup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4773168" y="2359152"/>
            <a:ext cx="40050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4773168" y="2359152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892040" y="241401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loginAt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6583680" y="2414016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timestamp recorded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4773168" y="2889504"/>
            <a:ext cx="400507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4773168" y="2889504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4892040" y="29443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logoutAt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6583680" y="2944368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on logout event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4773168" y="3419856"/>
            <a:ext cx="40050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773168" y="3419856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4892040" y="34747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hoursWorked</a:t>
            </a:r>
            <a:endParaRPr lang="en-US" sz="1100" dirty="0"/>
          </a:p>
        </p:txBody>
      </p:sp>
      <p:sp>
        <p:nvSpPr>
          <p:cNvPr id="51" name="Text 44"/>
          <p:cNvSpPr/>
          <p:nvPr/>
        </p:nvSpPr>
        <p:spPr>
          <a:xfrm>
            <a:off x="6583680" y="3474720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Auto-calculated on logout</a:t>
            </a:r>
            <a:endParaRPr lang="en-US" sz="1100" dirty="0"/>
          </a:p>
        </p:txBody>
      </p:sp>
      <p:sp>
        <p:nvSpPr>
          <p:cNvPr id="52" name="Shape 45"/>
          <p:cNvSpPr/>
          <p:nvPr/>
        </p:nvSpPr>
        <p:spPr>
          <a:xfrm>
            <a:off x="4773168" y="3950208"/>
            <a:ext cx="400507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4773168" y="3950208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4892040" y="400507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dateStr</a:t>
            </a:r>
            <a:endParaRPr lang="en-US" sz="1100" dirty="0"/>
          </a:p>
        </p:txBody>
      </p:sp>
      <p:sp>
        <p:nvSpPr>
          <p:cNvPr id="55" name="Text 48"/>
          <p:cNvSpPr/>
          <p:nvPr/>
        </p:nvSpPr>
        <p:spPr>
          <a:xfrm>
            <a:off x="6583680" y="4005072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YYYY-MM-DD (unique per day)</a:t>
            </a:r>
            <a:endParaRPr lang="en-US" sz="1100" dirty="0"/>
          </a:p>
        </p:txBody>
      </p:sp>
      <p:sp>
        <p:nvSpPr>
          <p:cNvPr id="56" name="Shape 49"/>
          <p:cNvSpPr/>
          <p:nvPr/>
        </p:nvSpPr>
        <p:spPr>
          <a:xfrm>
            <a:off x="4773168" y="4480560"/>
            <a:ext cx="40050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4773168" y="4480560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4892040" y="453542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59" name="Text 52"/>
          <p:cNvSpPr/>
          <p:nvPr/>
        </p:nvSpPr>
        <p:spPr>
          <a:xfrm>
            <a:off x="6583680" y="4535424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/ half / absent</a:t>
            </a:r>
            <a:endParaRPr lang="en-US" sz="1100" dirty="0"/>
          </a:p>
        </p:txBody>
      </p:sp>
      <p:sp>
        <p:nvSpPr>
          <p:cNvPr id="60" name="Text 53"/>
          <p:cNvSpPr/>
          <p:nvPr/>
        </p:nvSpPr>
        <p:spPr>
          <a:xfrm>
            <a:off x="4773168" y="4681728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index: one LoginEvent per user per day — no duplicates ever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114800" cy="4114800"/>
          </a:xfrm>
          <a:prstGeom prst="ellipse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E11D48">
              <a:alpha val="12000"/>
            </a:srgbClr>
          </a:solidFill>
          <a:ln w="12700">
            <a:solidFill>
              <a:srgbClr val="E11D4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protection built into every layer of the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6052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0624" y="1517904"/>
            <a:ext cx="658368" cy="6583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682496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5296" y="1389888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Authentication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25296" y="1755648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and Socket.IO connection requires a valid JWT. Expired tokens are instantly rejected.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81728" y="1298448"/>
            <a:ext cx="416052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28032" y="1517904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168249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32704" y="1389888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AES-256-GCM Encryption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632704" y="1755648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message text is encrypted before saving to MongoDB. Decrypted only for authorised requests.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4320" y="2551176"/>
            <a:ext cx="416052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E11D48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0624" y="2770632"/>
            <a:ext cx="658368" cy="65836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293522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25296" y="2642616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Removed Member Block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225296" y="3008376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users are blocked from login AND re-registration. Block list loads at server startup.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81728" y="2551176"/>
            <a:ext cx="416052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28032" y="2770632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2935224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32704" y="2642616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632704" y="3008376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rate limiter on all API routes prevents brute-force attacks and abuse.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274320" y="3803904"/>
            <a:ext cx="416052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20624" y="4023360"/>
            <a:ext cx="658368" cy="6583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4187952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25296" y="3895344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 Policy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225296" y="4261104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Vercel frontend origin can call the backend API. All other origins are blocked.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681728" y="3803904"/>
            <a:ext cx="416052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28032" y="4023360"/>
            <a:ext cx="658368" cy="6583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2624" y="4187952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632704" y="3895344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Log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632704" y="4261104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admin action is recorded with timestamp, actor and target in the AuditLog collection.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Assistant — Powered by Gemini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AI help, right inside the workspace — no extra tools needed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41605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62456"/>
            <a:ext cx="347472" cy="34747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" y="1449324"/>
            <a:ext cx="173736" cy="1737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33502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Assistant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97280" y="1847088"/>
            <a:ext cx="3291840" cy="420624"/>
          </a:xfrm>
          <a:prstGeom prst="roundRect">
            <a:avLst>
              <a:gd name="adj" fmla="val 1521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188366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summarise today's standup points?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2450592"/>
            <a:ext cx="3291840" cy="64008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48716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Sure! Key points: 1) Auth refactor done  2) Leave CSV in progress  3) Standup moved to 9am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097280" y="3273552"/>
            <a:ext cx="3291840" cy="420624"/>
          </a:xfrm>
          <a:prstGeom prst="roundRect">
            <a:avLst>
              <a:gd name="adj" fmla="val 1521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33101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reminder about the deploy freeze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3877056"/>
            <a:ext cx="3291840" cy="859536"/>
          </a:xfrm>
          <a:prstGeom prst="roundRect">
            <a:avLst>
              <a:gd name="adj" fmla="val 744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913632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team — reminder that we have a deploy freeze from Thursday. Please merge all critical PRs before then. Thanks!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1298448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09160" y="1298448"/>
            <a:ext cx="4160520" cy="43891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131673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Can Do with AI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773168" y="1847088"/>
            <a:ext cx="4005072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28032" y="193852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762" y="2064258"/>
            <a:ext cx="251460" cy="2514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40680" y="190195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Messages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440680" y="2194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write messages, emails or announcements for you.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773168" y="2651760"/>
            <a:ext cx="40050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828032" y="27432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762" y="2868930"/>
            <a:ext cx="251460" cy="2514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40680" y="27066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Answers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440680" y="29992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 about your work, tasks or team processes.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4773168" y="3456432"/>
            <a:ext cx="4005072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828032" y="3547872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762" y="3673602"/>
            <a:ext cx="251460" cy="2514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440680" y="35112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Threads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440680" y="380390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conversation and get a clean summary in seconds.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4773168" y="4261104"/>
            <a:ext cx="40050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828032" y="4352544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762" y="4478274"/>
            <a:ext cx="251460" cy="2514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440680" y="431596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Productivity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5440680" y="460857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day, generate checklists or outline documents.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4773168" y="5047488"/>
            <a:ext cx="4005072" cy="219456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4828032" y="50566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never exposed to browser — all AI requests proxied via Next.js API route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tools chosen for speed, scalability and reliability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73152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298448"/>
            <a:ext cx="2624328" cy="64008"/>
          </a:xfrm>
          <a:prstGeom prst="rect">
            <a:avLst/>
          </a:prstGeom>
          <a:solidFill>
            <a:srgbClr val="1E293B">
              <a:alpha val="25000"/>
            </a:srgbClr>
          </a:solidFill>
          <a:ln w="12700">
            <a:solidFill>
              <a:srgbClr val="1E293B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0817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75564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97510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App Router · SSR · Auto-deploy Vercel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18688" y="1298448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298448"/>
            <a:ext cx="73152" cy="11155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298448"/>
            <a:ext cx="2624328" cy="64008"/>
          </a:xfrm>
          <a:prstGeom prst="rect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40817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Express.js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01568" y="175564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01568" y="197510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Socket.IO · JWT · Rate limiting · CORS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298448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1298448"/>
            <a:ext cx="73152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298448"/>
            <a:ext cx="2624328" cy="64008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140817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 Atlas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45936" y="175564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45936" y="197510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 · 20+ models · Text search indexes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560320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560320"/>
            <a:ext cx="73152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2560320"/>
            <a:ext cx="2624328" cy="64008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6700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Socket.IO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301752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323697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Typing · Notifications · DM rooms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18688" y="2560320"/>
            <a:ext cx="73152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2560320"/>
            <a:ext cx="2624328" cy="64008"/>
          </a:xfrm>
          <a:prstGeom prst="rect">
            <a:avLst/>
          </a:prstGeom>
          <a:solidFill>
            <a:srgbClr val="D97706">
              <a:alpha val="25000"/>
            </a:srgbClr>
          </a:solidFill>
          <a:ln w="12700">
            <a:solidFill>
              <a:srgbClr val="D97706">
                <a:alpha val="2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1568" y="26700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Cloudinary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401568" y="301752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Storage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01568" y="323697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· Audio · Video · File CDN delivery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63056" y="2560320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63056" y="2560320"/>
            <a:ext cx="73152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36208" y="2560320"/>
            <a:ext cx="2624328" cy="6400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26700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Brevo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345936" y="301752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45936" y="323697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approvals · Leave decisions · Invites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822192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822192"/>
            <a:ext cx="73152" cy="111556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472" y="3822192"/>
            <a:ext cx="2624328" cy="64008"/>
          </a:xfrm>
          <a:prstGeom prst="rect">
            <a:avLst/>
          </a:prstGeom>
          <a:solidFill>
            <a:srgbClr val="E11D48">
              <a:alpha val="25000"/>
            </a:srgbClr>
          </a:solidFill>
          <a:ln w="12700">
            <a:solidFill>
              <a:srgbClr val="E11D48">
                <a:alpha val="2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931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AI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57200" y="427939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7200" y="44988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· Proxied via Next.js route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18688" y="3822192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18688" y="3822192"/>
            <a:ext cx="73152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91840" y="3822192"/>
            <a:ext cx="2624328" cy="64008"/>
          </a:xfrm>
          <a:prstGeom prst="rect">
            <a:avLst/>
          </a:prstGeom>
          <a:solidFill>
            <a:srgbClr val="1E293B">
              <a:alpha val="25000"/>
            </a:srgbClr>
          </a:solidFill>
          <a:ln w="12700">
            <a:solidFill>
              <a:srgbClr val="1E293B">
                <a:alpha val="2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01568" y="3931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3401568" y="427939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401568" y="44988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on push · Global CDN · Free SSL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63056" y="3822192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63056" y="3822192"/>
            <a:ext cx="73152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36208" y="3822192"/>
            <a:ext cx="2624328" cy="64008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45936" y="3931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6345936" y="427939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Host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345936" y="44988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· Keep-alive ping · Env vars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4F46E5">
              <a:alpha val="18000"/>
            </a:srgbClr>
          </a:solidFill>
          <a:ln w="12700">
            <a:solidFill>
              <a:srgbClr val="4F46E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5029200" cy="50292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2560320" y="1600200"/>
            <a:ext cx="40233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EduTechExOS — One Platform. Every Team Need.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48716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encrypted team chat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248716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Leave management with email alerts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98094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Kanban, Wiki &amp; Notepad tools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98094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Admin control panel &amp; audit log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Attendance &amp; activity tracking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3474720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assistant via Gemini API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Render + MongoDB Atlas  ·  Next.js · Express · Socket.IO · Cloudinary · Brevo · Gemini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2024</Words>
  <Application>Microsoft Office PowerPoint</Application>
  <PresentationFormat>On-screen Show (16:9)</PresentationFormat>
  <Paragraphs>464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EduTechExOS Platform Overview</dc:title>
  <dc:subject>PptxGenJS Presentation</dc:subject>
  <dc:creator>PptxGenJS</dc:creator>
  <cp:lastModifiedBy>HP</cp:lastModifiedBy>
  <cp:revision>4</cp:revision>
  <dcterms:created xsi:type="dcterms:W3CDTF">2026-06-22T14:05:15Z</dcterms:created>
  <dcterms:modified xsi:type="dcterms:W3CDTF">2026-06-25T07:16:51Z</dcterms:modified>
</cp:coreProperties>
</file>