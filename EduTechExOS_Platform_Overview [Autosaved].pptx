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22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3E4A89">
              <a:alpha val="30000"/>
            </a:srgbClr>
          </a:solidFill>
          <a:ln w="12700">
            <a:solidFill>
              <a:srgbClr val="3E4A89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5B4FDB">
              <a:alpha val="20000"/>
            </a:srgbClr>
          </a:solidFill>
          <a:ln w="12700">
            <a:solidFill>
              <a:srgbClr val="5B4FD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EduTechExOS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8B9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Team Workspace Platform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91440" cy="91440"/>
          </a:xfrm>
          <a:prstGeom prst="ellipse">
            <a:avLst/>
          </a:prstGeom>
          <a:solidFill>
            <a:srgbClr val="8B9FE8"/>
          </a:solidFill>
          <a:ln w="12700">
            <a:solidFill>
              <a:srgbClr val="8B9F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3154680"/>
            <a:ext cx="91440" cy="91440"/>
          </a:xfrm>
          <a:prstGeom prst="ellipse">
            <a:avLst/>
          </a:prstGeom>
          <a:solidFill>
            <a:srgbClr val="8B9FE8"/>
          </a:solidFill>
          <a:ln w="12700">
            <a:solidFill>
              <a:srgbClr val="8B9F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" y="3154680"/>
            <a:ext cx="91440" cy="91440"/>
          </a:xfrm>
          <a:prstGeom prst="ellipse">
            <a:avLst/>
          </a:prstGeom>
          <a:solidFill>
            <a:srgbClr val="8B9FE8"/>
          </a:solidFill>
          <a:ln w="12700">
            <a:solidFill>
              <a:srgbClr val="8B9F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43584" y="3154680"/>
            <a:ext cx="91440" cy="91440"/>
          </a:xfrm>
          <a:prstGeom prst="ellipse">
            <a:avLst/>
          </a:prstGeom>
          <a:solidFill>
            <a:srgbClr val="8B9FE8"/>
          </a:solidFill>
          <a:ln w="12700">
            <a:solidFill>
              <a:srgbClr val="8B9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83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 ·  Leave management  ·  Kanban  ·  AI assistant  ·  Admin control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Platform Walkthrough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1E2F"/>
          </a:solidFill>
          <a:ln w="12700">
            <a:solidFill>
              <a:srgbClr val="191E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EduTechExOS?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EduTechExOS is a private, invite-only team workspace built for organisations that need everything in one place — from real-time chat to HR leave management, task boards, and AI assistance.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057400"/>
            <a:ext cx="2560320" cy="265176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8720" y="2706624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team channels, direct messages, typing indicators, reactions &amp; polls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2057400"/>
            <a:ext cx="2560320" cy="2651760"/>
          </a:xfrm>
          <a:prstGeom prst="rect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Collaborate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23360" y="2706624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8346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boards, wiki pages, notepad, file sharing, voice &amp; video in chat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2057400"/>
            <a:ext cx="2560320" cy="2651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0" y="2706624"/>
            <a:ext cx="9144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8346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requests, attendance tracking, admin control, audit logs &amp;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 — The Big Picture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331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4A8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331720" cy="59436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704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517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on Vercel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React dashboard UI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Socket.IO client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05409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Zustand state management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62102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Deployed on Vercel (CDN)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37560" y="1143000"/>
            <a:ext cx="2331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4F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143000"/>
            <a:ext cx="2331720" cy="594360"/>
          </a:xfrm>
          <a:prstGeom prst="rect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704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1517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on Render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19202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REST API (20+ routes)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74720" y="248716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Socket.IO server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74720" y="305409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JWT authentication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74720" y="362102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Deployed on Render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1143000"/>
            <a:ext cx="2331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1143000"/>
            <a:ext cx="233172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1704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1517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+ Services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19202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MongoDB Atlas (database)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37960" y="248716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Cloudinary (file storage)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37960" y="305409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Brevo (email service)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37960" y="362102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Gemini AI (assistant)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606040" y="2971800"/>
            <a:ext cx="731520" cy="0"/>
          </a:xfrm>
          <a:prstGeom prst="line">
            <a:avLst/>
          </a:prstGeom>
          <a:noFill/>
          <a:ln w="25400">
            <a:solidFill>
              <a:srgbClr val="3E4A89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669280" y="2971800"/>
            <a:ext cx="731520" cy="0"/>
          </a:xfrm>
          <a:prstGeom prst="line">
            <a:avLst/>
          </a:prstGeom>
          <a:noFill/>
          <a:ln w="25400">
            <a:solidFill>
              <a:srgbClr val="5B4FDB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606040" y="27889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0" y="27889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1E2F"/>
          </a:solidFill>
          <a:ln w="12700">
            <a:solidFill>
              <a:srgbClr val="191E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97480" cy="1143000"/>
          </a:xfrm>
          <a:prstGeom prst="rect">
            <a:avLst/>
          </a:prstGeom>
          <a:solidFill>
            <a:srgbClr val="F5F7FF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54864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16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Next.js 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54533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7830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React Server Components, SSR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97480" cy="1143000"/>
          </a:xfrm>
          <a:prstGeom prst="rect">
            <a:avLst/>
          </a:prstGeom>
          <a:solidFill>
            <a:srgbClr val="F5F7FF"/>
          </a:solidFill>
          <a:ln w="12700">
            <a:solidFill>
              <a:srgbClr val="3E4A8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54864" cy="114300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216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64992" y="154533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Server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64992" y="17830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Socket.IO, JWT middleware, rate limiting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697480" cy="1143000"/>
          </a:xfrm>
          <a:prstGeom prst="rect">
            <a:avLst/>
          </a:prstGeom>
          <a:solidFill>
            <a:srgbClr val="F5F7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43000"/>
            <a:ext cx="54864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2161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91072" y="154533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91072" y="17830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ODM, 20+ collections, text search indexes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404872"/>
            <a:ext cx="2697480" cy="1143000"/>
          </a:xfrm>
          <a:prstGeom prst="rect">
            <a:avLst/>
          </a:prstGeom>
          <a:solidFill>
            <a:srgbClr val="F5F7FF"/>
          </a:solidFill>
          <a:ln w="12700">
            <a:solidFill>
              <a:srgbClr val="5B4F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404872"/>
            <a:ext cx="54864" cy="1143000"/>
          </a:xfrm>
          <a:prstGeom prst="rect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478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4F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Socket.IO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" y="28072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Engine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912" y="30449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events for chat, typing, DMs, notifications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404872"/>
            <a:ext cx="2697480" cy="1143000"/>
          </a:xfrm>
          <a:prstGeom prst="rect">
            <a:avLst/>
          </a:prstGeom>
          <a:solidFill>
            <a:srgbClr val="F5F7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404872"/>
            <a:ext cx="54864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2478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Cloudinary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64992" y="28072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Media Storage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64992" y="30449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audio, video, files — CDN delivered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404872"/>
            <a:ext cx="2697480" cy="1143000"/>
          </a:xfrm>
          <a:prstGeom prst="rect">
            <a:avLst/>
          </a:prstGeom>
          <a:solidFill>
            <a:srgbClr val="F5F7FF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404872"/>
            <a:ext cx="54864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2478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Brevo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91072" y="28072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Email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91072" y="30449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approvals, leave decisions, onboarding emails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666744"/>
            <a:ext cx="2697480" cy="1143000"/>
          </a:xfrm>
          <a:prstGeom prst="rect">
            <a:avLst/>
          </a:prstGeom>
          <a:solidFill>
            <a:srgbClr val="F5F7FF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666744"/>
            <a:ext cx="54864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7398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AI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38912" y="4069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38912" y="43068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proxied via Next.js API route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3666744"/>
            <a:ext cx="2697480" cy="1143000"/>
          </a:xfrm>
          <a:prstGeom prst="rect">
            <a:avLst/>
          </a:prstGeom>
          <a:solidFill>
            <a:srgbClr val="F5F7FF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3666744"/>
            <a:ext cx="54864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4992" y="37398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Vercel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364992" y="4069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364992" y="43068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on every main branch push, global CDN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3666744"/>
            <a:ext cx="2697480" cy="1143000"/>
          </a:xfrm>
          <a:prstGeom prst="rect">
            <a:avLst/>
          </a:prstGeom>
          <a:solidFill>
            <a:srgbClr val="F5F7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3666744"/>
            <a:ext cx="54864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37398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Render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291072" y="4069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Hosting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91072" y="43068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Express server, keep-alive ping configured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1E2F"/>
          </a:solidFill>
          <a:ln w="12700">
            <a:solidFill>
              <a:srgbClr val="191E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Started — Access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60120" y="1188720"/>
            <a:ext cx="685800" cy="685800"/>
          </a:xfrm>
          <a:prstGeom prst="ellipse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1920240" cy="2743200"/>
          </a:xfrm>
          <a:prstGeom prst="rect">
            <a:avLst/>
          </a:prstGeom>
          <a:solidFill>
            <a:srgbClr val="F5F7FF"/>
          </a:solidFill>
          <a:ln w="12700">
            <a:solidFill>
              <a:srgbClr val="3E4A8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0848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Submit Request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in name, email &amp; reason on the sign-up page. System blocks removed members instantly.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527048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188720"/>
            <a:ext cx="685800" cy="685800"/>
          </a:xfrm>
          <a:prstGeom prst="ellipse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560320" y="2011680"/>
            <a:ext cx="1920240" cy="2743200"/>
          </a:xfrm>
          <a:prstGeom prst="rect">
            <a:avLst/>
          </a:prstGeom>
          <a:solidFill>
            <a:srgbClr val="F5F7FF"/>
          </a:solidFill>
          <a:ln w="12700">
            <a:solidFill>
              <a:srgbClr val="5B4F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20848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4F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Reviews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56032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the request in the Control Panel and clicks Approve or Reject with an optional note.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527048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1188720"/>
            <a:ext cx="685800" cy="6858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54880" y="2011680"/>
            <a:ext cx="1920240" cy="2743200"/>
          </a:xfrm>
          <a:prstGeom prst="rect">
            <a:avLst/>
          </a:prstGeom>
          <a:solidFill>
            <a:srgbClr val="F5F7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0848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Email Sent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56032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sends the decision email to the user — approved users get a link to set their password.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1527048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1188720"/>
            <a:ext cx="685800" cy="6858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949440" y="2011680"/>
            <a:ext cx="1920240" cy="2743200"/>
          </a:xfrm>
          <a:prstGeom prst="rect">
            <a:avLst/>
          </a:prstGeom>
          <a:solidFill>
            <a:srgbClr val="F5F7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440" y="20848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Logs 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256032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sets password, logs in with JWT token, joins the workspace and real-time channels.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Dashboard — Your Workspace Home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645920" cy="3749040"/>
          </a:xfrm>
          <a:prstGeom prst="rect">
            <a:avLst/>
          </a:prstGeom>
          <a:solidFill>
            <a:srgbClr val="191E2F"/>
          </a:solidFill>
          <a:ln w="12700">
            <a:solidFill>
              <a:srgbClr val="191E2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general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skillnaav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042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projects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68833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 Channels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07238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DMs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4564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Kanban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840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Calendar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2245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03120" y="1097280"/>
            <a:ext cx="4114800" cy="27432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76272" y="11155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 Feed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1444752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from team channels load here in real-time. Scroll up to load history.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3120" y="29260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103120" y="2926080"/>
            <a:ext cx="4114800" cy="27432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76272" y="2944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Message Input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32735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attach files, record voice, add emoji, reply in threads.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1097280"/>
            <a:ext cx="2514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1097280"/>
            <a:ext cx="2514600" cy="27432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11155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144475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alerts for DMs, leave decisions, mentions, meetings.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55080" y="242316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2423160"/>
            <a:ext cx="2514600" cy="27432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24414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277063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history and attendance calendar at a glance.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55080" y="3931920"/>
            <a:ext cx="2514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3931920"/>
            <a:ext cx="2514600" cy="27432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9502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42793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across all public messages.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1E2F"/>
          </a:solidFill>
          <a:ln w="12700">
            <a:solidFill>
              <a:srgbClr val="191E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Team Chat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saved to MongoDB and instantly broadcast to all users in the channel via Socket.IO.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91440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54864" cy="91440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Public Channels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Workspace-wide channels like #general and #skillnaav. All members can join and post.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691640"/>
            <a:ext cx="4114800" cy="91440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691640"/>
            <a:ext cx="54864" cy="91440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Typing Indicators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10912" y="20756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when someone is typing in real-time — just like WhatsApp.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4114800" cy="91440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43200"/>
            <a:ext cx="54864" cy="91440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Reactions &amp; Polls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0352" y="312724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with emoji to any message. Create quick polls directly in the chat.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743200"/>
            <a:ext cx="4114800" cy="91440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743200"/>
            <a:ext cx="54864" cy="91440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Message Threads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10912" y="312724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specific messages to keep conversations organised without clutter.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4114800" cy="91440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94760"/>
            <a:ext cx="54864" cy="91440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Pin &amp; Bookmark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0352" y="41788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important messages in a channel or bookmark them to your personal list.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794760"/>
            <a:ext cx="4114800" cy="91440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794760"/>
            <a:ext cx="54864" cy="91440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Infinite Scroll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10912" y="41788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messages load on demand as you scroll up — paginated from MongoDB.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Direct Messages — Private &amp; Encrypted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840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840480" cy="365760"/>
          </a:xfrm>
          <a:prstGeom prst="rect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DMs 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clicks any member's name in the sidebar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private Socket.IO room is created: dm:emailA::emailB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Messages are stored in MongoDB with channelId = member-{email}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Only the two participants can see this conversation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Messages are excluded from the global search results (privacy protection)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End-to-end encryption keys (public/private) are stored per user in the UserKey model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097280"/>
            <a:ext cx="44805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097280"/>
            <a:ext cx="4480560" cy="36576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124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 Features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1627632"/>
            <a:ext cx="201168" cy="201168"/>
          </a:xfrm>
          <a:prstGeom prst="ellipse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002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message history persisted in MongoDB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26280" y="2267712"/>
            <a:ext cx="201168" cy="201168"/>
          </a:xfrm>
          <a:prstGeom prst="ellipse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2402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typing indicator within the DM room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26280" y="2907792"/>
            <a:ext cx="201168" cy="201168"/>
          </a:xfrm>
          <a:prstGeom prst="ellipse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803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image and voice message support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26280" y="3547872"/>
            <a:ext cx="201168" cy="201168"/>
          </a:xfrm>
          <a:prstGeom prst="ellipse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5204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and message deletion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26280" y="4187952"/>
            <a:ext cx="201168" cy="201168"/>
          </a:xfrm>
          <a:prstGeom prst="ellipse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41605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isolated from channel search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1E2F"/>
          </a:solidFill>
          <a:ln w="12700">
            <a:solidFill>
              <a:srgbClr val="191E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 Sharing &amp; Rich Media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share more than text — the message input supports multiple media types, all stored securely on Cloudinary.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2697480" cy="132588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828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2585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 Attachments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25328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ZIP and other files. Stored on Cloudinary, displayed as download links in chat.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737360"/>
            <a:ext cx="2697480" cy="132588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828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37560" y="22585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25328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preview images directly in the message feed. Thumbnail previews displayed inline.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737360"/>
            <a:ext cx="2697480" cy="132588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828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63640" y="22585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Messages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5352" y="25328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send audio clips directly from the message input. Playable in-chat.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200400"/>
            <a:ext cx="2697480" cy="132588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291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📹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" y="37216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Messages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" y="39959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short video clips and share them. Rendered with inline video player.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3200400"/>
            <a:ext cx="2697480" cy="132588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46120" y="3291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37560" y="37216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Screen Recording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9272" y="39959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screen and share as a video message without leaving the workspace.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3200400"/>
            <a:ext cx="2697480" cy="132588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291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63640" y="37216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 Previews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45352" y="39959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URLs automatically unfurl to show title, description and thumbnail.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Leave Management — Apply, Review &amp; Track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02920" cy="502920"/>
          </a:xfrm>
          <a:prstGeom prst="ellipse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143000"/>
            <a:ext cx="7955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3E4A8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188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applies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08960" y="120700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leave type (Planned / Emergency), dates, category (Sick, Vacation, Personal), and reason.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" y="1691640"/>
            <a:ext cx="0" cy="21031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4320" y="1947672"/>
            <a:ext cx="502920" cy="502920"/>
          </a:xfrm>
          <a:prstGeom prst="ellipse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1901952"/>
            <a:ext cx="7955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4F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1947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4F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notified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08960" y="196596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 to admin via Brevo. Admin also sees a live Socket.IO alert on the dashboard.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" y="2450592"/>
            <a:ext cx="0" cy="21031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706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2660904"/>
            <a:ext cx="7955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27066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reviews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108960" y="272491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Admin Panel → Leave tab: approve or reject with an optional note.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" y="3209544"/>
            <a:ext cx="0" cy="21031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74320" y="3465576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4400" y="3419856"/>
            <a:ext cx="7955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5840" y="34655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notified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108960" y="3483864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email sent to user (if email notifications are enabled in their settings).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" y="3968496"/>
            <a:ext cx="0" cy="21031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274320" y="4224528"/>
            <a:ext cx="502920" cy="502920"/>
          </a:xfrm>
          <a:prstGeom prst="ellipse">
            <a:avLst/>
          </a:prstGeom>
          <a:solidFill>
            <a:srgbClr val="191E2F"/>
          </a:solidFill>
          <a:ln w="12700">
            <a:solidFill>
              <a:srgbClr val="191E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224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14400" y="4178808"/>
            <a:ext cx="7955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91E2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5840" y="4224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E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Attendance updated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108960" y="424281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leave is factored into the attendance calculation for that day.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1E2F"/>
          </a:solidFill>
          <a:ln w="12700">
            <a:solidFill>
              <a:srgbClr val="191E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Kanban Board — Task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can create and manage tasks visually across three columns. All tasks are saved to MongoDB and shared in real-time.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51760" cy="320040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265176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099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Do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5488" y="2176272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23113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new onboarding 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999232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305409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API docs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3822192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87705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mobile layout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691640"/>
            <a:ext cx="2651760" cy="320040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691640"/>
            <a:ext cx="2651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7099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Progress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401568" y="2176272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93008" y="223113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auth middleware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01568" y="2999232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93008" y="305409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leave export CSV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01568" y="3822192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93008" y="387705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load test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691640"/>
            <a:ext cx="2651760" cy="320040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691640"/>
            <a:ext cx="26517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7099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327648" y="2176272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19088" y="223113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migration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27648" y="2999232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19088" y="305409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refresh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27648" y="3822192"/>
            <a:ext cx="2423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19088" y="387705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Wiki &amp; Notepad — Knowledge &amp;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 Wiki — Team Knowledge Base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73352"/>
            <a:ext cx="182880" cy="182880"/>
          </a:xfrm>
          <a:prstGeom prst="ellipse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2763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edit rich-text pages for team knowledge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267712"/>
            <a:ext cx="182880" cy="182880"/>
          </a:xfrm>
          <a:prstGeom prst="ellipse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2199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can be marked as Public (all members) or Private (admin only)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862072"/>
            <a:ext cx="182880" cy="182880"/>
          </a:xfrm>
          <a:prstGeom prst="ellipse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1635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markdown-style formatting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456432"/>
            <a:ext cx="182880" cy="182880"/>
          </a:xfrm>
          <a:prstGeom prst="ellipse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1071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wiki content saved in the WikiPage MongoDB model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4050792"/>
            <a:ext cx="182880" cy="182880"/>
          </a:xfrm>
          <a:prstGeom prst="ellipse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0507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the sidebar — instant navigation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1097280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155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📝  Notepad — Personal Notes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673352"/>
            <a:ext cx="182880" cy="182880"/>
          </a:xfrm>
          <a:prstGeom prst="ellipse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62763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scratch pad — only visible to the note owner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2267712"/>
            <a:ext cx="182880" cy="182880"/>
          </a:xfrm>
          <a:prstGeom prst="ellipse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22199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named pads — switch between them in the sidebar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46320" y="2862072"/>
            <a:ext cx="182880" cy="182880"/>
          </a:xfrm>
          <a:prstGeom prst="ellipse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81635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can be shared as a message to any channel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3456432"/>
            <a:ext cx="182880" cy="182880"/>
          </a:xfrm>
          <a:prstGeom prst="ellipse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41071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Auto-saves content to the user's own pad document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46320" y="4050792"/>
            <a:ext cx="182880" cy="182880"/>
          </a:xfrm>
          <a:prstGeom prst="ellipse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400507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drafting messages before posting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6012"/>
            <a:ext cx="9144000" cy="1005840"/>
          </a:xfrm>
          <a:prstGeom prst="rect">
            <a:avLst/>
          </a:prstGeom>
          <a:solidFill>
            <a:srgbClr val="191E2F"/>
          </a:solidFill>
          <a:ln w="12700">
            <a:solidFill>
              <a:srgbClr val="191E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Calendar &amp; Scheduling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97480" cy="3749040"/>
          </a:xfrm>
          <a:prstGeom prst="rect">
            <a:avLst/>
          </a:prstGeom>
          <a:solidFill>
            <a:srgbClr val="F5F7FF"/>
          </a:solidFill>
          <a:ln w="12700">
            <a:solidFill>
              <a:srgbClr val="3E4A8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697480" cy="45720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61288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Availability Calendar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7472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4944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42416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89888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37360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84832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32304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6616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04088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051560" y="1956816"/>
            <a:ext cx="219456" cy="219456"/>
          </a:xfrm>
          <a:prstGeom prst="ellipse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399032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99032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746504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46504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093976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93976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56616" y="2231136"/>
            <a:ext cx="219456" cy="219456"/>
          </a:xfrm>
          <a:prstGeom prst="ellipse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04088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051560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399032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99032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746504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46504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093976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93976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441448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41448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56616" y="2505456"/>
            <a:ext cx="219456" cy="219456"/>
          </a:xfrm>
          <a:prstGeom prst="ellipse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04088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051560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51560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399032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99032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746504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46504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093976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93976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441448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41448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56616" y="2779776"/>
            <a:ext cx="219456" cy="219456"/>
          </a:xfrm>
          <a:prstGeom prst="ellipse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616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704088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4088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051560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1560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399032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99032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746504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46504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2093976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093976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441448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441448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65760" y="3127248"/>
            <a:ext cx="146304" cy="146304"/>
          </a:xfrm>
          <a:prstGeom prst="ellipse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4360" y="30906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marks days as Available, Busy, or Away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65760" y="3547872"/>
            <a:ext cx="146304" cy="146304"/>
          </a:xfrm>
          <a:prstGeom prst="ellipse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4360" y="351129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can see admin availability in real-time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3968496"/>
            <a:ext cx="146304" cy="146304"/>
          </a:xfrm>
          <a:prstGeom prst="ellipse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4360" y="39319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AdminAvailability MongoDB model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4389120"/>
            <a:ext cx="146304" cy="146304"/>
          </a:xfrm>
          <a:prstGeom prst="ellipse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4360" y="43525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members know when to reach admin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218688" y="1143000"/>
            <a:ext cx="2697480" cy="3749040"/>
          </a:xfrm>
          <a:prstGeom prst="rect">
            <a:avLst/>
          </a:prstGeom>
          <a:solidFill>
            <a:srgbClr val="F5F7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3218688" y="1143000"/>
            <a:ext cx="26974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91840" y="1161288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Leave Calendar</a:t>
            </a:r>
            <a:endParaRPr lang="en-US" sz="1150" dirty="0"/>
          </a:p>
        </p:txBody>
      </p:sp>
      <p:sp>
        <p:nvSpPr>
          <p:cNvPr id="81" name="Text 79"/>
          <p:cNvSpPr/>
          <p:nvPr/>
        </p:nvSpPr>
        <p:spPr>
          <a:xfrm>
            <a:off x="3291840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639312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3986784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334256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681728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029200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376672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300984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300984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3648456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648456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3995928" y="1956816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995928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4343400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43400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4690872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690872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5038344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38344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5385816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385816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3300984" y="2231136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00984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3648456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648456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3995928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995928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4343400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343400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4690872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690872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5038344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038344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5385816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385816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3300984" y="2505456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300984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3648456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648456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3995928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995928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4343400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343400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4690872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690872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5038344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038344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5385816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385816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3300984" y="2779776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300984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3648456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648456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3995928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995928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4343400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343400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4690872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690872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5038344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038344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5385816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385816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3310128" y="3127248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538728" y="30906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month-view of all pending &amp; approved leaves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3310128" y="3547872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538728" y="351129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see who is off on which day at a glance</a:t>
            </a:r>
            <a:endParaRPr lang="en-US" sz="1000" dirty="0"/>
          </a:p>
        </p:txBody>
      </p:sp>
      <p:sp>
        <p:nvSpPr>
          <p:cNvPr id="148" name="Shape 146"/>
          <p:cNvSpPr/>
          <p:nvPr/>
        </p:nvSpPr>
        <p:spPr>
          <a:xfrm>
            <a:off x="3310128" y="3968496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538728" y="39319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by leave status (pending/approved/rejected)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3310128" y="4389120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538728" y="43525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plan team workload around absences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6163056" y="1143000"/>
            <a:ext cx="2697480" cy="3749040"/>
          </a:xfrm>
          <a:prstGeom prst="rect">
            <a:avLst/>
          </a:prstGeom>
          <a:solidFill>
            <a:srgbClr val="F5F7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3" name="Shape 151"/>
          <p:cNvSpPr/>
          <p:nvPr/>
        </p:nvSpPr>
        <p:spPr>
          <a:xfrm>
            <a:off x="6163056" y="1143000"/>
            <a:ext cx="26974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236208" y="1161288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Activity Calendar</a:t>
            </a:r>
            <a:endParaRPr lang="en-US" sz="1150" dirty="0"/>
          </a:p>
        </p:txBody>
      </p:sp>
      <p:sp>
        <p:nvSpPr>
          <p:cNvPr id="155" name="Text 153"/>
          <p:cNvSpPr/>
          <p:nvPr/>
        </p:nvSpPr>
        <p:spPr>
          <a:xfrm>
            <a:off x="6236208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6583680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157" name="Text 155"/>
          <p:cNvSpPr/>
          <p:nvPr/>
        </p:nvSpPr>
        <p:spPr>
          <a:xfrm>
            <a:off x="6931152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800" dirty="0"/>
          </a:p>
        </p:txBody>
      </p:sp>
      <p:sp>
        <p:nvSpPr>
          <p:cNvPr id="158" name="Text 156"/>
          <p:cNvSpPr/>
          <p:nvPr/>
        </p:nvSpPr>
        <p:spPr>
          <a:xfrm>
            <a:off x="7278624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159" name="Text 157"/>
          <p:cNvSpPr/>
          <p:nvPr/>
        </p:nvSpPr>
        <p:spPr>
          <a:xfrm>
            <a:off x="7626096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160" name="Text 158"/>
          <p:cNvSpPr/>
          <p:nvPr/>
        </p:nvSpPr>
        <p:spPr>
          <a:xfrm>
            <a:off x="7973568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161" name="Text 159"/>
          <p:cNvSpPr/>
          <p:nvPr/>
        </p:nvSpPr>
        <p:spPr>
          <a:xfrm>
            <a:off x="8321040" y="168249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6245352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6245352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6592824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592824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6940296" y="1956816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6940296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7287768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287768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7635240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7635240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7982712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7982712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8330184" y="195681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8330184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6245352" y="2231136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6245352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6592824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6592824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6940296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6940296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7287768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287768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184" name="Shape 182"/>
          <p:cNvSpPr/>
          <p:nvPr/>
        </p:nvSpPr>
        <p:spPr>
          <a:xfrm>
            <a:off x="7635240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7635240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186" name="Shape 184"/>
          <p:cNvSpPr/>
          <p:nvPr/>
        </p:nvSpPr>
        <p:spPr>
          <a:xfrm>
            <a:off x="7982712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7982712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188" name="Shape 186"/>
          <p:cNvSpPr/>
          <p:nvPr/>
        </p:nvSpPr>
        <p:spPr>
          <a:xfrm>
            <a:off x="8330184" y="223113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8330184" y="2231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6245352" y="2505456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245352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192" name="Shape 190"/>
          <p:cNvSpPr/>
          <p:nvPr/>
        </p:nvSpPr>
        <p:spPr>
          <a:xfrm>
            <a:off x="6592824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592824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194" name="Shape 192"/>
          <p:cNvSpPr/>
          <p:nvPr/>
        </p:nvSpPr>
        <p:spPr>
          <a:xfrm>
            <a:off x="6940296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6940296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196" name="Shape 194"/>
          <p:cNvSpPr/>
          <p:nvPr/>
        </p:nvSpPr>
        <p:spPr>
          <a:xfrm>
            <a:off x="7287768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7287768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7635240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7635240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00" dirty="0"/>
          </a:p>
        </p:txBody>
      </p:sp>
      <p:sp>
        <p:nvSpPr>
          <p:cNvPr id="200" name="Shape 198"/>
          <p:cNvSpPr/>
          <p:nvPr/>
        </p:nvSpPr>
        <p:spPr>
          <a:xfrm>
            <a:off x="7982712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7982712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202" name="Shape 200"/>
          <p:cNvSpPr/>
          <p:nvPr/>
        </p:nvSpPr>
        <p:spPr>
          <a:xfrm>
            <a:off x="8330184" y="250545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8330184" y="25054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00" dirty="0"/>
          </a:p>
        </p:txBody>
      </p:sp>
      <p:sp>
        <p:nvSpPr>
          <p:cNvPr id="204" name="Shape 202"/>
          <p:cNvSpPr/>
          <p:nvPr/>
        </p:nvSpPr>
        <p:spPr>
          <a:xfrm>
            <a:off x="6245352" y="2779776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6245352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00" dirty="0"/>
          </a:p>
        </p:txBody>
      </p:sp>
      <p:sp>
        <p:nvSpPr>
          <p:cNvPr id="206" name="Shape 204"/>
          <p:cNvSpPr/>
          <p:nvPr/>
        </p:nvSpPr>
        <p:spPr>
          <a:xfrm>
            <a:off x="6592824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592824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208" name="Shape 206"/>
          <p:cNvSpPr/>
          <p:nvPr/>
        </p:nvSpPr>
        <p:spPr>
          <a:xfrm>
            <a:off x="6940296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6940296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00" dirty="0"/>
          </a:p>
        </p:txBody>
      </p:sp>
      <p:sp>
        <p:nvSpPr>
          <p:cNvPr id="210" name="Shape 208"/>
          <p:cNvSpPr/>
          <p:nvPr/>
        </p:nvSpPr>
        <p:spPr>
          <a:xfrm>
            <a:off x="7287768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7287768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212" name="Shape 210"/>
          <p:cNvSpPr/>
          <p:nvPr/>
        </p:nvSpPr>
        <p:spPr>
          <a:xfrm>
            <a:off x="7635240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635240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700" dirty="0"/>
          </a:p>
        </p:txBody>
      </p:sp>
      <p:sp>
        <p:nvSpPr>
          <p:cNvPr id="214" name="Shape 212"/>
          <p:cNvSpPr/>
          <p:nvPr/>
        </p:nvSpPr>
        <p:spPr>
          <a:xfrm>
            <a:off x="7982712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7982712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700" dirty="0"/>
          </a:p>
        </p:txBody>
      </p:sp>
      <p:sp>
        <p:nvSpPr>
          <p:cNvPr id="216" name="Shape 214"/>
          <p:cNvSpPr/>
          <p:nvPr/>
        </p:nvSpPr>
        <p:spPr>
          <a:xfrm>
            <a:off x="8330184" y="2779776"/>
            <a:ext cx="219456" cy="219456"/>
          </a:xfrm>
          <a:prstGeom prst="ellipse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8330184" y="27797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00" dirty="0"/>
          </a:p>
        </p:txBody>
      </p:sp>
      <p:sp>
        <p:nvSpPr>
          <p:cNvPr id="218" name="Shape 216"/>
          <p:cNvSpPr/>
          <p:nvPr/>
        </p:nvSpPr>
        <p:spPr>
          <a:xfrm>
            <a:off x="6254496" y="3127248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6483096" y="30906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view — shows days you have logged in</a:t>
            </a:r>
            <a:endParaRPr lang="en-US" sz="1000" dirty="0"/>
          </a:p>
        </p:txBody>
      </p:sp>
      <p:sp>
        <p:nvSpPr>
          <p:cNvPr id="220" name="Shape 218"/>
          <p:cNvSpPr/>
          <p:nvPr/>
        </p:nvSpPr>
        <p:spPr>
          <a:xfrm>
            <a:off x="6254496" y="3547872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6483096" y="351129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pulled from LoginEvent records in MongoDB</a:t>
            </a:r>
            <a:endParaRPr lang="en-US" sz="1000" dirty="0"/>
          </a:p>
        </p:txBody>
      </p:sp>
      <p:sp>
        <p:nvSpPr>
          <p:cNvPr id="222" name="Shape 220"/>
          <p:cNvSpPr/>
          <p:nvPr/>
        </p:nvSpPr>
        <p:spPr>
          <a:xfrm>
            <a:off x="6254496" y="3968496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6483096" y="39319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dots mark active (login) days on the month view</a:t>
            </a:r>
            <a:endParaRPr lang="en-US" sz="1000" dirty="0"/>
          </a:p>
        </p:txBody>
      </p:sp>
      <p:sp>
        <p:nvSpPr>
          <p:cNvPr id="224" name="Shape 222"/>
          <p:cNvSpPr/>
          <p:nvPr/>
        </p:nvSpPr>
        <p:spPr>
          <a:xfrm>
            <a:off x="6254496" y="4389120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6483096" y="43525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members track their own attendance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Control Panel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Admin user can access this panel — it is the command centre for managing the entire workspace.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4A8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4A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 Requests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2194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pending access requests. Approve or reject with one click. Remove existing members permanently.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69164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0128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Leave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10128" y="2194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pending leave applications. Approve or reject with an optional admin note. Email is auto-sent to user.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🏢  Members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36208" y="2194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full list of active workspace members with their details and last login time.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4F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4F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📜  Audit Log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37033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log of every significant action — approvals, rejections, removals, channel changes.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32004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10128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Analytics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37033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showing team login frequency, channel message volume, and attendance trends.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32004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1D9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36208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 Availability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36208" y="37033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available/busy/away status on the calendar so members know when to reach you.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1E2F"/>
          </a:solidFill>
          <a:ln w="12700">
            <a:solidFill>
              <a:srgbClr val="191E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 &amp; Attendance Tracking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9476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24712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Attendance is Calculated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91056"/>
            <a:ext cx="548640" cy="50292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548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159105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LoginEvent record is created in MongoDB with email, name, date string and login time.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2093976"/>
            <a:ext cx="0" cy="15544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65760" y="2249424"/>
            <a:ext cx="548640" cy="50292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58568"/>
            <a:ext cx="548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224942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logout, hoursWorked is calculated. If ≥ 5 hrs → 'full'. If ≥ 2.5 hrs → 'half'. Otherwise 'absent'.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" y="2752344"/>
            <a:ext cx="0" cy="15544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" y="2907792"/>
            <a:ext cx="548640" cy="50292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16936"/>
            <a:ext cx="548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Check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05840" y="290779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approved leave exists for that day, attendance is marked as per leave duration.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" y="3410712"/>
            <a:ext cx="0" cy="15544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65760" y="3566160"/>
            <a:ext cx="548640" cy="50292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75304"/>
            <a:ext cx="548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05840" y="35661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each member's attendance in the Login Tracker Calendar with colour coding.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" y="4069080"/>
            <a:ext cx="0" cy="15544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65760" y="4224528"/>
            <a:ext cx="548640" cy="502920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33672"/>
            <a:ext cx="548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View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05840" y="422452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sees their own active login days highlighted green in My Activity Calendar.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097280"/>
            <a:ext cx="4206240" cy="3794760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097280"/>
            <a:ext cx="4206240" cy="384048"/>
          </a:xfrm>
          <a:prstGeom prst="rect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124712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Gets Tracked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73168" y="1600200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16367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time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16367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4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73168" y="2121408"/>
            <a:ext cx="3977640" cy="43891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21579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time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0" y="215798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4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73168" y="2642616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26791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worked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0" y="26791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4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73168" y="3163824"/>
            <a:ext cx="3977640" cy="43891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status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3232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4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/ Half / Absent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73168" y="3685032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3721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string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32320" y="37216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4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YYYY-MM-DD indexed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73168" y="4206240"/>
            <a:ext cx="3977640" cy="438912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42428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32320" y="424281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4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record per day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1E2F"/>
          </a:solidFill>
          <a:ln w="12700">
            <a:solidFill>
              <a:srgbClr val="191E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AI Assistant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402336"/>
          </a:xfrm>
          <a:prstGeom prst="rect">
            <a:avLst/>
          </a:prstGeom>
          <a:solidFill>
            <a:srgbClr val="3E4A89"/>
          </a:solidFill>
          <a:ln w="12700">
            <a:solidFill>
              <a:srgbClr val="3E4A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 Security 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91056"/>
            <a:ext cx="3931920" cy="484632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93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E4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Authentication: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60934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request &amp; Socket.IO connection requires a valid JWT token. Expired tokens are rejected.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39696"/>
            <a:ext cx="3931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5798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E4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Encryption: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215798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message text is encrypted at rest using AES-256-GCM before saving to MongoDB.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88336"/>
            <a:ext cx="3931920" cy="484632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066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E4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Member Block: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70662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users are blocked from logging in AND re-registering. The block is loaded at server startup.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36976"/>
            <a:ext cx="3931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552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E4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325526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rate limiter on all API routes prevents brute-force and abuse.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85616"/>
            <a:ext cx="3931920" cy="484632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039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E4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Policy: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380390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allowed origins (Vercel URL) can call the backend. All others are blocked.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334256"/>
            <a:ext cx="3931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525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E4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Log: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435254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 action is recorded with timestamp, actor, and target in the AuditLog collection.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097280"/>
            <a:ext cx="4206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097280"/>
            <a:ext cx="4206240" cy="402336"/>
          </a:xfrm>
          <a:prstGeom prst="rect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115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 AI Assistant (Gemini)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591056"/>
            <a:ext cx="4023360" cy="749808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591056"/>
            <a:ext cx="54864" cy="749808"/>
          </a:xfrm>
          <a:prstGeom prst="rect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618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4F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Powered by Gemini AI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92040" y="19019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via the Gemini API. Requests proxied through the Next.js API route to protect the API key.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2414016"/>
            <a:ext cx="4023360" cy="749808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414016"/>
            <a:ext cx="54864" cy="749808"/>
          </a:xfrm>
          <a:prstGeom prst="rect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441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4F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Context-Aware Chat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92040" y="27249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ask questions, get summaries, draft messages, or get help — right inside the workspace.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236976"/>
            <a:ext cx="4023360" cy="749808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236976"/>
            <a:ext cx="54864" cy="749808"/>
          </a:xfrm>
          <a:prstGeom prst="rect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2644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4F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 via Sidebar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92040" y="35478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AI Panel from the dashboard sidebar at any time without leaving the workspace.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4059936"/>
            <a:ext cx="4023360" cy="749808"/>
          </a:xfrm>
          <a:prstGeom prst="rect">
            <a:avLst/>
          </a:prstGeom>
          <a:solidFill>
            <a:srgbClr val="F5F7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059936"/>
            <a:ext cx="54864" cy="749808"/>
          </a:xfrm>
          <a:prstGeom prst="rect">
            <a:avLst/>
          </a:prstGeom>
          <a:solidFill>
            <a:srgbClr val="5B4FDB"/>
          </a:solidFill>
          <a:ln w="12700">
            <a:solidFill>
              <a:srgbClr val="5B4F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4087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4F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Data Leakage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892040" y="43708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requests go through the backend proxy. The Gemini API key is never exposed to the browser.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9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E4A89">
              <a:alpha val="30000"/>
            </a:srgbClr>
          </a:solidFill>
          <a:ln w="12700">
            <a:solidFill>
              <a:srgbClr val="3E4A89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5B4FDB">
              <a:alpha val="20000"/>
            </a:srgbClr>
          </a:solidFill>
          <a:ln w="12700">
            <a:solidFill>
              <a:srgbClr val="5B4FD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EduTechExOS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Team Need.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0" y="22860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team chat with encryption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26700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Leave management with email notifications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305409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Kanban, Wiki, Notepad, File sharing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343814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Admin control panel with audit log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38221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Attendance tracking &amp; AI assistant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42062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Deployed on Vercel + Render + MongoDB Atlas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 by the EduTechExOS Team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1929</Words>
  <Application>Microsoft Office PowerPoint</Application>
  <PresentationFormat>On-screen Show (16:9)</PresentationFormat>
  <Paragraphs>394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EduTechExOS — Platform Overview</dc:title>
  <dc:subject>PptxGenJS Presentation</dc:subject>
  <dc:creator>PptxGenJS</dc:creator>
  <cp:lastModifiedBy>HP</cp:lastModifiedBy>
  <cp:revision>3</cp:revision>
  <dcterms:created xsi:type="dcterms:W3CDTF">2026-06-22T11:55:39Z</dcterms:created>
  <dcterms:modified xsi:type="dcterms:W3CDTF">2026-06-25T07:17:39Z</dcterms:modified>
</cp:coreProperties>
</file>